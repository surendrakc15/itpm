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312" r:id="rId8"/>
    <p:sldId id="313" r:id="rId9"/>
    <p:sldId id="307" r:id="rId10"/>
    <p:sldId id="309" r:id="rId11"/>
    <p:sldId id="310" r:id="rId12"/>
    <p:sldId id="311" r:id="rId13"/>
    <p:sldId id="283" r:id="rId14"/>
    <p:sldId id="259" r:id="rId15"/>
    <p:sldId id="260" r:id="rId16"/>
    <p:sldId id="261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262" r:id="rId26"/>
    <p:sldId id="265" r:id="rId27"/>
    <p:sldId id="266" r:id="rId28"/>
    <p:sldId id="267" r:id="rId29"/>
    <p:sldId id="268" r:id="rId30"/>
    <p:sldId id="263" r:id="rId31"/>
    <p:sldId id="264" r:id="rId32"/>
    <p:sldId id="270" r:id="rId33"/>
    <p:sldId id="271" r:id="rId34"/>
    <p:sldId id="272" r:id="rId35"/>
    <p:sldId id="273" r:id="rId36"/>
    <p:sldId id="274" r:id="rId37"/>
    <p:sldId id="269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4" r:id="rId47"/>
    <p:sldId id="322" r:id="rId48"/>
    <p:sldId id="323" r:id="rId49"/>
    <p:sldId id="324" r:id="rId50"/>
    <p:sldId id="325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26" r:id="rId69"/>
    <p:sldId id="327" r:id="rId70"/>
    <p:sldId id="328" r:id="rId71"/>
    <p:sldId id="329" r:id="rId72"/>
    <p:sldId id="330" r:id="rId73"/>
    <p:sldId id="331" r:id="rId74"/>
    <p:sldId id="302" r:id="rId75"/>
    <p:sldId id="303" r:id="rId76"/>
    <p:sldId id="304" r:id="rId77"/>
    <p:sldId id="305" r:id="rId78"/>
    <p:sldId id="306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5668-3E53-4B6E-940F-7856481A9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- Scrum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931F6-9B9F-440A-8319-F6E25B4BB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SurendraKC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3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0898-57E0-4458-9C6E-03A93D7A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Waterfall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122934-E878-40C9-9CE1-AF5749F71A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062237"/>
            <a:ext cx="97812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 follows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sequential approach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nce a phase is done, you cannot go back.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Inflexibility to 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difficult to accommodate new requirements.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issues found very late in the cycle.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customer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customers see the product only at the end.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project failure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early assumptions are wrong.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Documentation-heavy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less focus on working software.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suitable for dynamic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6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D144-B610-4DCE-AE2D-923742EA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7D1F-E0A8-46A0-8EEE-462A330E6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Agile is a </a:t>
            </a:r>
            <a:r>
              <a:rPr lang="en-US" b="1" dirty="0"/>
              <a:t>modern software development approach</a:t>
            </a:r>
            <a:r>
              <a:rPr lang="en-US" dirty="0"/>
              <a:t> emphasizing flexibility, collaboration, and rapid delivery.</a:t>
            </a:r>
          </a:p>
          <a:p>
            <a:r>
              <a:rPr lang="en-US" dirty="0"/>
              <a:t>Focuses on </a:t>
            </a:r>
            <a:r>
              <a:rPr lang="en-US" b="1" dirty="0"/>
              <a:t>iterative development</a:t>
            </a:r>
            <a:r>
              <a:rPr lang="en-US" dirty="0"/>
              <a:t>, </a:t>
            </a:r>
            <a:r>
              <a:rPr lang="en-US" b="1" dirty="0"/>
              <a:t>continuous feedback</a:t>
            </a:r>
            <a:r>
              <a:rPr lang="en-US" dirty="0"/>
              <a:t>, and </a:t>
            </a:r>
            <a:r>
              <a:rPr lang="en-US" b="1" dirty="0"/>
              <a:t>customer satisfaction</a:t>
            </a:r>
            <a:r>
              <a:rPr lang="en-US" dirty="0"/>
              <a:t>.</a:t>
            </a:r>
          </a:p>
          <a:p>
            <a:r>
              <a:rPr lang="en-US" dirty="0"/>
              <a:t>Encourages </a:t>
            </a:r>
            <a:r>
              <a:rPr lang="en-US" b="1" dirty="0"/>
              <a:t>cross-functional teams</a:t>
            </a:r>
            <a:r>
              <a:rPr lang="en-US" dirty="0"/>
              <a:t> and </a:t>
            </a:r>
            <a:r>
              <a:rPr lang="en-US" b="1" dirty="0"/>
              <a:t>adaptive planning</a:t>
            </a:r>
            <a:r>
              <a:rPr lang="en-US" dirty="0"/>
              <a:t>.</a:t>
            </a:r>
          </a:p>
          <a:p>
            <a:r>
              <a:rPr lang="en-US" dirty="0"/>
              <a:t>Manifested through </a:t>
            </a:r>
            <a:r>
              <a:rPr lang="en-US" b="1" dirty="0"/>
              <a:t>Agile Manifesto (2001)</a:t>
            </a:r>
            <a:r>
              <a:rPr lang="en-US" dirty="0"/>
              <a:t> with 4 core values and 12 principles.</a:t>
            </a:r>
          </a:p>
          <a:p>
            <a:r>
              <a:rPr lang="en-US" b="1" dirty="0"/>
              <a:t>Core Values of Agile:</a:t>
            </a:r>
            <a:endParaRPr lang="en-US" dirty="0"/>
          </a:p>
          <a:p>
            <a:pPr lvl="1"/>
            <a:r>
              <a:rPr lang="en-US" b="1" dirty="0"/>
              <a:t>Individuals and interactions</a:t>
            </a:r>
            <a:r>
              <a:rPr lang="en-US" dirty="0"/>
              <a:t> over processes and tools</a:t>
            </a:r>
          </a:p>
          <a:p>
            <a:pPr lvl="1"/>
            <a:r>
              <a:rPr lang="en-US" b="1" dirty="0"/>
              <a:t>Working software</a:t>
            </a:r>
            <a:r>
              <a:rPr lang="en-US" dirty="0"/>
              <a:t> over comprehensive documentation</a:t>
            </a:r>
          </a:p>
          <a:p>
            <a:pPr lvl="1"/>
            <a:r>
              <a:rPr lang="en-US" b="1" dirty="0"/>
              <a:t>Customer collaboration</a:t>
            </a:r>
            <a:r>
              <a:rPr lang="en-US" dirty="0"/>
              <a:t> over contract negotiation</a:t>
            </a:r>
          </a:p>
          <a:p>
            <a:pPr lvl="1"/>
            <a:r>
              <a:rPr lang="en-US" b="1" dirty="0"/>
              <a:t>Responding to change</a:t>
            </a:r>
            <a:r>
              <a:rPr lang="en-US" dirty="0"/>
              <a:t> over following a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0343-631A-6FE5-672B-2447A8A2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9F0AE-7DFA-FE0B-0AD0-7DA9497C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Individuals and Interactions over Processes and Tools</a:t>
            </a:r>
          </a:p>
          <a:p>
            <a:pPr lvl="1"/>
            <a:r>
              <a:rPr lang="en-US" dirty="0"/>
              <a:t>Agile prioritizes people, communication, teamwork, and quick collaboration rather than depending too much on tools or strict processes.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QA finds a bug during testing. Instead of logging it in Jira and waiting for formal approval, the QA directly talks to the developer and gets it fixed quickly.</a:t>
            </a:r>
          </a:p>
          <a:p>
            <a:pPr lvl="1"/>
            <a:r>
              <a:rPr lang="en-US" dirty="0"/>
              <a:t>A team prefers daily stand-up discussions to solve blockers instead of relying heavily on email or documentation.</a:t>
            </a:r>
          </a:p>
          <a:p>
            <a:r>
              <a:rPr lang="en-US" b="1" dirty="0"/>
              <a:t>Value:</a:t>
            </a:r>
            <a:r>
              <a:rPr lang="en-US" dirty="0"/>
              <a:t> Human communication solves problems faster than rigid procedures.</a:t>
            </a:r>
          </a:p>
          <a:p>
            <a:pPr marL="0" indent="0">
              <a:buNone/>
            </a:pPr>
            <a:r>
              <a:rPr lang="en-US" b="1" dirty="0"/>
              <a:t>Working Software over Comprehensive Documentation</a:t>
            </a:r>
          </a:p>
          <a:p>
            <a:pPr lvl="1"/>
            <a:r>
              <a:rPr lang="en-US" dirty="0"/>
              <a:t>The main goal is to deliver working, usable software—not spending too much time creating long documents.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Instead of writing a 50-page requirement document, the team delivers a working prototype in the first sprint and gathers customer feedback.</a:t>
            </a:r>
          </a:p>
          <a:p>
            <a:pPr lvl="1"/>
            <a:r>
              <a:rPr lang="en-US" dirty="0"/>
              <a:t>A product increment is tested and available for demo even if all documents are not fully written, as long as key notes exist.</a:t>
            </a:r>
          </a:p>
          <a:p>
            <a:r>
              <a:rPr lang="en-US" b="1" dirty="0"/>
              <a:t>Value:</a:t>
            </a:r>
            <a:r>
              <a:rPr lang="en-US" dirty="0"/>
              <a:t> Customers get real value only when the software works, not from thick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1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668B-60BC-648D-D0A8-E9FFFB53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2785-516A-CC2A-1430-01A0FB15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07E7-999C-2E1B-708F-57742406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Customer Collaboration over Contract Negotiation</a:t>
            </a:r>
          </a:p>
          <a:p>
            <a:pPr lvl="1"/>
            <a:r>
              <a:rPr lang="en-US" dirty="0"/>
              <a:t>Agile encourages continuous communication with customers and stakeholders instead of rigidly sticking to the contract.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After building the first part of a feature, the customer wants a slight UI change. The Agile team discusses and adjusts without saying “It’s not in the contract.”</a:t>
            </a:r>
          </a:p>
          <a:p>
            <a:pPr lvl="1"/>
            <a:r>
              <a:rPr lang="en-US" dirty="0"/>
              <a:t>Regular sprint reviews help the customer see the product and request changes early.</a:t>
            </a:r>
          </a:p>
          <a:p>
            <a:r>
              <a:rPr lang="en-US" b="1" dirty="0"/>
              <a:t>Value:</a:t>
            </a:r>
            <a:r>
              <a:rPr lang="en-US" dirty="0"/>
              <a:t> Working closely with customers ensures the product meets real needs.</a:t>
            </a:r>
          </a:p>
          <a:p>
            <a:pPr marL="0" indent="0">
              <a:buNone/>
            </a:pPr>
            <a:r>
              <a:rPr lang="en-US" b="1" dirty="0"/>
              <a:t>Responding to Change over Following a Plan</a:t>
            </a:r>
          </a:p>
          <a:p>
            <a:pPr lvl="1"/>
            <a:r>
              <a:rPr lang="en-US" dirty="0"/>
              <a:t>Agile accepts and welcomes changes—even late in development. Plans are important, but adapting quickly is more important.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The team planned to build Feature A in Sprint 2, but a high-priority customer issue arises. The team adjusts and works on the new requirement.</a:t>
            </a:r>
          </a:p>
          <a:p>
            <a:pPr lvl="1"/>
            <a:r>
              <a:rPr lang="en-US" dirty="0"/>
              <a:t>If market conditions change or a competitor releases something new, the product backlog is reordered accordingly.</a:t>
            </a:r>
          </a:p>
          <a:p>
            <a:r>
              <a:rPr lang="en-US" b="1" dirty="0"/>
              <a:t>Value:</a:t>
            </a:r>
            <a:r>
              <a:rPr lang="en-US" dirty="0"/>
              <a:t> Flexibility helps teams deliver what is truly needed, not just what was planned months ago.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6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Customer Satisfaction through Early and Continuous Delivery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Deliver valuable software </a:t>
            </a:r>
            <a:r>
              <a:rPr lang="en-US" b="1" dirty="0"/>
              <a:t>frequently</a:t>
            </a:r>
            <a:r>
              <a:rPr lang="en-US" dirty="0"/>
              <a:t> to keep customers happy.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SaaS team releases new features every 2 weeks instead of waiting 6 months, ensuring customers get usable updates quickly.</a:t>
            </a:r>
          </a:p>
          <a:p>
            <a:pPr marL="0" indent="0">
              <a:buNone/>
            </a:pPr>
            <a:r>
              <a:rPr lang="en-US" b="1" dirty="0"/>
              <a:t>Welcome Changing Requirements, Even Late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Agile </a:t>
            </a:r>
            <a:r>
              <a:rPr lang="en-US" b="1" dirty="0"/>
              <a:t>embraces change</a:t>
            </a:r>
            <a:r>
              <a:rPr lang="en-US" dirty="0"/>
              <a:t>, even late in development.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e-commerce team changes the checkout workflow after customer feedback, even though development is mid-way.</a:t>
            </a:r>
          </a:p>
          <a:p>
            <a:pPr marL="0" indent="0">
              <a:buNone/>
            </a:pPr>
            <a:r>
              <a:rPr lang="en-US" b="1" dirty="0"/>
              <a:t>Deliver Working Software Frequently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Deliver </a:t>
            </a:r>
            <a:r>
              <a:rPr lang="en-US" b="1" dirty="0"/>
              <a:t>functional software in short cycles</a:t>
            </a:r>
            <a:r>
              <a:rPr lang="en-US" dirty="0"/>
              <a:t> (weeks rather than months).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mobile app team releases a minimum viable feature, then iterates based on user feedback every 2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00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Business and Developers Must Work Together Daily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Continuous collaboration ensures </a:t>
            </a:r>
            <a:r>
              <a:rPr lang="en-US" b="1" dirty="0"/>
              <a:t>shared understanding</a:t>
            </a:r>
            <a:r>
              <a:rPr lang="en-US" dirty="0"/>
              <a:t> and faster decision-making.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product manager sits with developers to clarify user stories during daily stand-ups.</a:t>
            </a:r>
          </a:p>
          <a:p>
            <a:pPr marL="0" indent="0">
              <a:buNone/>
            </a:pPr>
            <a:r>
              <a:rPr lang="en-US" b="1" dirty="0"/>
              <a:t>Build Projects Around Motivated Individuals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Empowered teams are </a:t>
            </a:r>
            <a:r>
              <a:rPr lang="en-US" b="1" dirty="0"/>
              <a:t>more productive and creative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dev team is trusted to choose the technology stack for a new feature, improving motivation and ownership.</a:t>
            </a:r>
          </a:p>
          <a:p>
            <a:pPr marL="0" indent="0">
              <a:buNone/>
            </a:pPr>
            <a:r>
              <a:rPr lang="en-US" b="1" dirty="0"/>
              <a:t>Face-to-Face Conversation is the Best Form of Communication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Direct communication reduces </a:t>
            </a:r>
            <a:r>
              <a:rPr lang="en-US" b="1" dirty="0"/>
              <a:t>misunderstandings</a:t>
            </a:r>
            <a:r>
              <a:rPr lang="en-US" dirty="0"/>
              <a:t> and speeds up work.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remote team uses video calls to clarify requirements instead of long email chains.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8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Working Software is the Primary Measure of Progress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Progress is measured by </a:t>
            </a:r>
            <a:r>
              <a:rPr lang="en-US" b="1" dirty="0"/>
              <a:t>working, usable software</a:t>
            </a:r>
            <a:r>
              <a:rPr lang="en-US" dirty="0"/>
              <a:t>, not documentation.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feature demo at the end of each sprint shows tangible progress rather than just planning documents.</a:t>
            </a:r>
          </a:p>
          <a:p>
            <a:pPr marL="0" indent="0">
              <a:buNone/>
            </a:pPr>
            <a:r>
              <a:rPr lang="en-US" b="1" dirty="0"/>
              <a:t>Agile Processes Promote Sustainable Development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should maintain a </a:t>
            </a:r>
            <a:r>
              <a:rPr lang="en-US" b="1" dirty="0"/>
              <a:t>steady pace</a:t>
            </a:r>
            <a:r>
              <a:rPr lang="en-US" dirty="0"/>
              <a:t> without burnout.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Developers work 40-hour weeks consistently rather than sprinting with overtime every release.</a:t>
            </a:r>
          </a:p>
          <a:p>
            <a:pPr marL="0" indent="0">
              <a:buNone/>
            </a:pPr>
            <a:r>
              <a:rPr lang="en-US" b="1" dirty="0"/>
              <a:t>Continuous Attention to Technical Excellence and Good Design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Quality and maintainability improve speed over time.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team implements </a:t>
            </a:r>
            <a:r>
              <a:rPr lang="en-US" b="1" dirty="0"/>
              <a:t>refactoring and unit tests</a:t>
            </a:r>
            <a:r>
              <a:rPr lang="en-US" dirty="0"/>
              <a:t> regularly to avoid messy code that slows future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40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6149-98A0-4E5D-B283-3A7204F0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7519D-1153-4ECE-8DCE-E3A31249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Simplicity – Maximize Work Not Done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Focus on </a:t>
            </a:r>
            <a:r>
              <a:rPr lang="en-US" b="1" dirty="0"/>
              <a:t>what adds value</a:t>
            </a:r>
            <a:r>
              <a:rPr lang="en-US" dirty="0"/>
              <a:t> and avoid unnecessary work.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Instead of building a full reporting module upfront, deliver the most-used reports first.</a:t>
            </a:r>
          </a:p>
          <a:p>
            <a:pPr marL="0" indent="0">
              <a:buNone/>
            </a:pPr>
            <a:r>
              <a:rPr lang="en-US" b="1" dirty="0"/>
              <a:t>Self-Organizing Teams Generate the Best Architectures and Designs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empowered to make decisions create </a:t>
            </a:r>
            <a:r>
              <a:rPr lang="en-US" b="1" dirty="0"/>
              <a:t>better solutions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Developers choose the optimal microservice architecture instead of following a rigid blueprint from management.</a:t>
            </a:r>
          </a:p>
          <a:p>
            <a:pPr marL="0" indent="0">
              <a:buNone/>
            </a:pPr>
            <a:r>
              <a:rPr lang="en-US" b="1" dirty="0"/>
              <a:t>Regular Reflection and Adjustment</a:t>
            </a:r>
          </a:p>
          <a:p>
            <a:pPr lvl="1"/>
            <a:r>
              <a:rPr lang="en-US" b="1" dirty="0"/>
              <a:t>Principle:</a:t>
            </a:r>
            <a:br>
              <a:rPr lang="en-US" dirty="0"/>
            </a:br>
            <a:r>
              <a:rPr lang="en-US" dirty="0"/>
              <a:t>Teams reflect on </a:t>
            </a:r>
            <a:r>
              <a:rPr lang="en-US" b="1" dirty="0"/>
              <a:t>how to improve</a:t>
            </a:r>
            <a:r>
              <a:rPr lang="en-US" dirty="0"/>
              <a:t> and adapt their processes regularly.</a:t>
            </a:r>
          </a:p>
          <a:p>
            <a:pPr lvl="1"/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During sprint retrospectives, a team identifies that code reviews take too long and decides to pair program for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F17F-1DFD-4DA9-977A-A58111CE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B305-B923-4747-B8D6-AB9887997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is about </a:t>
            </a:r>
            <a:r>
              <a:rPr lang="en-US" b="1" dirty="0"/>
              <a:t>mindset</a:t>
            </a:r>
            <a:r>
              <a:rPr lang="en-US" dirty="0"/>
              <a:t>, not just process.</a:t>
            </a:r>
          </a:p>
          <a:p>
            <a:r>
              <a:rPr lang="en-US" dirty="0"/>
              <a:t>Scrum provides a structured yet flexible framework for success.</a:t>
            </a:r>
          </a:p>
          <a:p>
            <a:r>
              <a:rPr lang="en-US" dirty="0"/>
              <a:t>Focus on </a:t>
            </a:r>
            <a:r>
              <a:rPr lang="en-US" b="1" dirty="0"/>
              <a:t>people, collaboration, transparency, and continuous improvement</a:t>
            </a:r>
            <a:r>
              <a:rPr lang="en-US" dirty="0"/>
              <a:t>.</a:t>
            </a:r>
          </a:p>
          <a:p>
            <a:r>
              <a:rPr lang="en-US" dirty="0"/>
              <a:t>Success depends on </a:t>
            </a:r>
            <a:r>
              <a:rPr lang="en-US" b="1" dirty="0"/>
              <a:t>discipline, feedback, and adaptability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74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B1CC-D70C-4731-9A1F-25175567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Frameworks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1A9E-B6FD-45C0-BF0F-E1A2FFEB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is an </a:t>
            </a:r>
            <a:r>
              <a:rPr lang="en-US" b="1" dirty="0"/>
              <a:t>umbrella term</a:t>
            </a:r>
            <a:r>
              <a:rPr lang="en-US" dirty="0"/>
              <a:t> for multiple frameworks:</a:t>
            </a:r>
          </a:p>
          <a:p>
            <a:pPr lvl="1"/>
            <a:r>
              <a:rPr lang="en-US" b="1" dirty="0"/>
              <a:t>Scrum</a:t>
            </a:r>
            <a:r>
              <a:rPr lang="en-US" dirty="0"/>
              <a:t> – Most popular, team-based iterative approach.</a:t>
            </a:r>
          </a:p>
          <a:p>
            <a:pPr lvl="1"/>
            <a:r>
              <a:rPr lang="en-US" b="1" dirty="0"/>
              <a:t>Kanban</a:t>
            </a:r>
            <a:r>
              <a:rPr lang="en-US" dirty="0"/>
              <a:t> – Visual flow management using boards.</a:t>
            </a:r>
          </a:p>
          <a:p>
            <a:pPr lvl="1"/>
            <a:r>
              <a:rPr lang="en-US" b="1" dirty="0"/>
              <a:t>XP (Extreme Programming)</a:t>
            </a:r>
            <a:r>
              <a:rPr lang="en-US" dirty="0"/>
              <a:t> – Focus on engineering practices.</a:t>
            </a:r>
          </a:p>
          <a:p>
            <a:pPr lvl="1"/>
            <a:r>
              <a:rPr lang="en-US" b="1" dirty="0"/>
              <a:t>Lean</a:t>
            </a:r>
            <a:r>
              <a:rPr lang="en-US" dirty="0"/>
              <a:t> – Eliminates waste, maximizes value.</a:t>
            </a:r>
          </a:p>
          <a:p>
            <a:pPr lvl="1"/>
            <a:r>
              <a:rPr lang="en-US" b="1" dirty="0" err="1"/>
              <a:t>SAFe</a:t>
            </a:r>
            <a:r>
              <a:rPr lang="en-US" b="1" dirty="0"/>
              <a:t> (Scaled Agile Framework)</a:t>
            </a:r>
            <a:r>
              <a:rPr lang="en-US" dirty="0"/>
              <a:t> – For enterprise-level Agile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6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96BC-4410-4CBD-A5D5-65B5407A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6C83-4280-4AEF-B201-9EC07781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Scrum</a:t>
            </a:r>
            <a:r>
              <a:rPr lang="en-US" dirty="0"/>
              <a:t> is a </a:t>
            </a:r>
            <a:r>
              <a:rPr lang="en-US" b="1" dirty="0"/>
              <a:t>lightweight Agile framework</a:t>
            </a:r>
            <a:r>
              <a:rPr lang="en-US" dirty="0"/>
              <a:t> for managing complex product development.</a:t>
            </a:r>
          </a:p>
          <a:p>
            <a:r>
              <a:rPr lang="en-US" dirty="0"/>
              <a:t>Based on </a:t>
            </a:r>
            <a:r>
              <a:rPr lang="en-US" b="1" dirty="0"/>
              <a:t>empirical process control</a:t>
            </a:r>
            <a:r>
              <a:rPr lang="en-US" dirty="0"/>
              <a:t>: transparency, inspection, and adaptation.</a:t>
            </a:r>
          </a:p>
          <a:p>
            <a:r>
              <a:rPr lang="en-US" dirty="0"/>
              <a:t>Uses </a:t>
            </a:r>
            <a:r>
              <a:rPr lang="en-US" b="1" dirty="0"/>
              <a:t>short iterations</a:t>
            </a:r>
            <a:r>
              <a:rPr lang="en-US" dirty="0"/>
              <a:t> called </a:t>
            </a:r>
            <a:r>
              <a:rPr lang="en-US" i="1" dirty="0"/>
              <a:t>Sprints</a:t>
            </a:r>
            <a:r>
              <a:rPr lang="en-US" dirty="0"/>
              <a:t> (usually 2–4 weeks).</a:t>
            </a:r>
          </a:p>
          <a:p>
            <a:r>
              <a:rPr lang="en-US" dirty="0"/>
              <a:t>Each Sprint delivers a </a:t>
            </a:r>
            <a:r>
              <a:rPr lang="en-US" b="1" dirty="0"/>
              <a:t>potentially shippable product increment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2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11A9-2EB6-46EF-9CDE-45DAAE2B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5994-A079-47C3-9B6C-7C3D6C271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Using Agile Scrum for Web Development | Neon Rain Interactive">
            <a:extLst>
              <a:ext uri="{FF2B5EF4-FFF2-40B4-BE49-F238E27FC236}">
                <a16:creationId xmlns:a16="http://schemas.microsoft.com/office/drawing/2014/main" id="{668DAEA2-0B88-42F3-A2C6-3881857A1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0"/>
            <a:ext cx="11787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017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FDB4-366D-336F-9981-6A32D177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F7F51-9B3D-2E59-4BFC-E92E8829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Inputs → Product Owner</a:t>
            </a:r>
          </a:p>
          <a:p>
            <a:pPr lvl="1"/>
            <a:r>
              <a:rPr lang="en-US" dirty="0"/>
              <a:t>Scrum starts with </a:t>
            </a:r>
            <a:r>
              <a:rPr lang="en-US" b="1" dirty="0"/>
              <a:t>inputs from customers, team members, managers, executives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Product Owner (PO)</a:t>
            </a:r>
            <a:r>
              <a:rPr lang="en-US" dirty="0"/>
              <a:t> collects all these inputs and converts them into work items such as:</a:t>
            </a:r>
          </a:p>
          <a:p>
            <a:pPr lvl="2"/>
            <a:r>
              <a:rPr lang="en-US" dirty="0"/>
              <a:t>New features</a:t>
            </a:r>
          </a:p>
          <a:p>
            <a:pPr lvl="2"/>
            <a:r>
              <a:rPr lang="en-US" dirty="0"/>
              <a:t>Enhancements</a:t>
            </a:r>
          </a:p>
          <a:p>
            <a:pPr lvl="2"/>
            <a:r>
              <a:rPr lang="en-US" dirty="0"/>
              <a:t>Bug fixes</a:t>
            </a:r>
          </a:p>
          <a:p>
            <a:pPr lvl="2"/>
            <a:r>
              <a:rPr lang="en-US" dirty="0"/>
              <a:t>Technical requirements</a:t>
            </a:r>
          </a:p>
          <a:p>
            <a:pPr lvl="1"/>
            <a:r>
              <a:rPr lang="en-US" dirty="0"/>
              <a:t>These go into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909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80E6-7784-B396-1D61-B4D41848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402D-2593-C4FE-092D-94D2297C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1C042-151F-D48A-59AD-319F34D0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Product Backlog</a:t>
            </a:r>
          </a:p>
          <a:p>
            <a:pPr lvl="1"/>
            <a:r>
              <a:rPr lang="en-US" dirty="0"/>
              <a:t>The Product Owner maintains a </a:t>
            </a:r>
            <a:r>
              <a:rPr lang="en-US" b="1" dirty="0"/>
              <a:t>prioritized, ordered list</a:t>
            </a:r>
            <a:r>
              <a:rPr lang="en-US" dirty="0"/>
              <a:t> of everything the product needs.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Login feature</a:t>
            </a:r>
          </a:p>
          <a:p>
            <a:pPr lvl="2"/>
            <a:r>
              <a:rPr lang="en-US" dirty="0"/>
              <a:t>Fix API timeout bug</a:t>
            </a:r>
          </a:p>
          <a:p>
            <a:pPr lvl="2"/>
            <a:r>
              <a:rPr lang="en-US" dirty="0"/>
              <a:t>Add payment method</a:t>
            </a:r>
          </a:p>
          <a:p>
            <a:pPr lvl="2"/>
            <a:r>
              <a:rPr lang="en-US" dirty="0"/>
              <a:t>UI improvements</a:t>
            </a:r>
          </a:p>
          <a:p>
            <a:pPr lvl="1"/>
            <a:r>
              <a:rPr lang="en-US" b="1" dirty="0"/>
              <a:t>Important:</a:t>
            </a:r>
            <a:r>
              <a:rPr lang="en-US" dirty="0"/>
              <a:t> The PO prioritizes based on business value.</a:t>
            </a:r>
          </a:p>
          <a:p>
            <a:pPr marL="0" indent="0">
              <a:buNone/>
            </a:pPr>
            <a:r>
              <a:rPr lang="en-US" b="1" dirty="0"/>
              <a:t>Sprint Planning Meeting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Team + Product Owner + Scrum Master</a:t>
            </a:r>
            <a:r>
              <a:rPr lang="en-US" dirty="0"/>
              <a:t> meet to plan the next sprint.</a:t>
            </a:r>
          </a:p>
          <a:p>
            <a:pPr lvl="1"/>
            <a:r>
              <a:rPr lang="en-US" dirty="0"/>
              <a:t>During Sprint Planning:</a:t>
            </a:r>
          </a:p>
          <a:p>
            <a:pPr lvl="2"/>
            <a:r>
              <a:rPr lang="en-US" dirty="0"/>
              <a:t>The team looks at the </a:t>
            </a:r>
            <a:r>
              <a:rPr lang="en-US" b="1" dirty="0"/>
              <a:t>top items</a:t>
            </a:r>
            <a:r>
              <a:rPr lang="en-US" dirty="0"/>
              <a:t> from the Product Backlog.</a:t>
            </a:r>
          </a:p>
          <a:p>
            <a:pPr lvl="2"/>
            <a:r>
              <a:rPr lang="en-US" dirty="0"/>
              <a:t>The team chooses </a:t>
            </a:r>
            <a:r>
              <a:rPr lang="en-US" b="1" dirty="0"/>
              <a:t>how much work it can commit to deliver</a:t>
            </a:r>
            <a:r>
              <a:rPr lang="en-US" dirty="0"/>
              <a:t> in the upcoming sprint.</a:t>
            </a:r>
          </a:p>
          <a:p>
            <a:pPr lvl="2"/>
            <a:r>
              <a:rPr lang="en-US" dirty="0"/>
              <a:t>This selected work becomes the </a:t>
            </a:r>
            <a:r>
              <a:rPr lang="en-US" b="1" dirty="0"/>
              <a:t>Sprint Backlog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Sprint Backlog:</a:t>
            </a:r>
            <a:r>
              <a:rPr lang="en-US" dirty="0"/>
              <a:t> A list of user stories selected for the sprint.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5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A2907-4CD6-F245-CDBC-D4C29D3B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B6B3-91D8-CB81-1EB3-35B77663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BB45-7D9E-2A4D-0E40-80B746F0A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Sprint Backlog → Task Breakdown</a:t>
            </a:r>
          </a:p>
          <a:p>
            <a:r>
              <a:rPr lang="en-US" dirty="0"/>
              <a:t>After selecting user stories: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breaks each story into tasks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User story: “Add product to cart”</a:t>
            </a:r>
          </a:p>
          <a:p>
            <a:pPr lvl="2"/>
            <a:r>
              <a:rPr lang="en-US" dirty="0"/>
              <a:t>Tasks:</a:t>
            </a:r>
          </a:p>
          <a:p>
            <a:pPr lvl="3"/>
            <a:r>
              <a:rPr lang="en-US" dirty="0"/>
              <a:t>Create API endpoint</a:t>
            </a:r>
          </a:p>
          <a:p>
            <a:pPr lvl="3"/>
            <a:r>
              <a:rPr lang="en-US" dirty="0"/>
              <a:t>Build UI</a:t>
            </a:r>
          </a:p>
          <a:p>
            <a:pPr lvl="3"/>
            <a:r>
              <a:rPr lang="en-US" dirty="0"/>
              <a:t>Write test cases</a:t>
            </a:r>
          </a:p>
          <a:p>
            <a:pPr lvl="1"/>
            <a:r>
              <a:rPr lang="en-US" dirty="0"/>
              <a:t>These tasks form the </a:t>
            </a:r>
            <a:r>
              <a:rPr lang="en-US" b="1" dirty="0"/>
              <a:t>Sprint Backlog</a:t>
            </a:r>
            <a:r>
              <a:rPr lang="en-US" dirty="0"/>
              <a:t> that the team will work 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F8B1-B523-8794-2ED9-DFA8F207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3038-F807-3ABB-287F-1C76511E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E1B0-0B24-EAE9-770C-5F2AC241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2–4 Week Sprint Cycle</a:t>
            </a:r>
          </a:p>
          <a:p>
            <a:r>
              <a:rPr lang="en-US" dirty="0"/>
              <a:t>The team now starts the </a:t>
            </a:r>
            <a:r>
              <a:rPr lang="en-US" b="1" dirty="0"/>
              <a:t>Sprint</a:t>
            </a:r>
            <a:r>
              <a:rPr lang="en-US" dirty="0"/>
              <a:t>, which lasts </a:t>
            </a:r>
            <a:r>
              <a:rPr lang="en-US" b="1" dirty="0"/>
              <a:t>1 to 4 weeks</a:t>
            </a:r>
            <a:r>
              <a:rPr lang="en-US" dirty="0"/>
              <a:t> (common: 2 weeks).</a:t>
            </a:r>
          </a:p>
          <a:p>
            <a:r>
              <a:rPr lang="en-US" dirty="0"/>
              <a:t>Key rules: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sprint duration is fixed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scope for the sprint does not change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Only the team can decide whether they can add or remove items.</a:t>
            </a:r>
          </a:p>
          <a:p>
            <a:r>
              <a:rPr lang="en-US" dirty="0"/>
              <a:t>The picture shows this with the big </a:t>
            </a:r>
            <a:r>
              <a:rPr lang="en-US" b="1" dirty="0"/>
              <a:t>loop arrow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67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4CC0-167F-FA7B-D6EC-D5E830A6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BCD0-55ED-E351-B9C2-B9B14F35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FDDC-4E61-63F6-246A-BBA8F6ABD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Daily Stand-up Meeting (24-Hour Cycle)</a:t>
            </a:r>
          </a:p>
          <a:p>
            <a:r>
              <a:rPr lang="en-US" dirty="0"/>
              <a:t>Every day, the team meets for </a:t>
            </a:r>
            <a:r>
              <a:rPr lang="en-US" b="1" dirty="0"/>
              <a:t>15 minutes</a:t>
            </a:r>
            <a:r>
              <a:rPr lang="en-US" dirty="0"/>
              <a:t> to discuss:</a:t>
            </a:r>
          </a:p>
          <a:p>
            <a:pPr lvl="1"/>
            <a:r>
              <a:rPr lang="en-US" dirty="0"/>
              <a:t>What did I do yesterday?</a:t>
            </a:r>
          </a:p>
          <a:p>
            <a:pPr lvl="1"/>
            <a:r>
              <a:rPr lang="en-US" dirty="0"/>
              <a:t>What will I do today?</a:t>
            </a:r>
          </a:p>
          <a:p>
            <a:pPr lvl="1"/>
            <a:r>
              <a:rPr lang="en-US" dirty="0"/>
              <a:t>What blockers do I have?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	To ensure the team stays aligned and issues are removed quickly.</a:t>
            </a:r>
          </a:p>
          <a:p>
            <a:r>
              <a:rPr lang="en-US" dirty="0"/>
              <a:t>The Scrum Master facilitates these meetings.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96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04E8-B9F3-EEAD-9756-C2D9B3E4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254D-979D-4548-F7D7-E83D3934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CA69-3DA7-ABAE-37B2-85CC5FE46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Burn Down / Burn Up Chart</a:t>
            </a:r>
          </a:p>
          <a:p>
            <a:r>
              <a:rPr lang="en-US" dirty="0"/>
              <a:t>During the sprint:</a:t>
            </a:r>
          </a:p>
          <a:p>
            <a:pPr lvl="1"/>
            <a:r>
              <a:rPr lang="en-US" dirty="0"/>
              <a:t>The Scrum Master updates the </a:t>
            </a:r>
            <a:r>
              <a:rPr lang="en-US" b="1" dirty="0"/>
              <a:t>Burndown chart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shows </a:t>
            </a:r>
            <a:r>
              <a:rPr lang="en-US" b="1" dirty="0"/>
              <a:t>how much work is completed</a:t>
            </a:r>
            <a:r>
              <a:rPr lang="en-US" dirty="0"/>
              <a:t> vs </a:t>
            </a:r>
            <a:r>
              <a:rPr lang="en-US" b="1" dirty="0"/>
              <a:t>how much is remaining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Helps track progress toward the sprint goal.</a:t>
            </a:r>
          </a:p>
          <a:p>
            <a:pPr marL="0" indent="0">
              <a:buNone/>
            </a:pPr>
            <a:r>
              <a:rPr lang="en-US" b="1" dirty="0"/>
              <a:t>Sprint Review</a:t>
            </a:r>
          </a:p>
          <a:p>
            <a:r>
              <a:rPr lang="en-US" dirty="0"/>
              <a:t>At the end of the sprint: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demonstrates the completed work</a:t>
            </a:r>
            <a:r>
              <a:rPr lang="en-US" dirty="0"/>
              <a:t> to the Product Owner and stakeholders.</a:t>
            </a:r>
          </a:p>
          <a:p>
            <a:pPr lvl="1"/>
            <a:r>
              <a:rPr lang="en-US" dirty="0"/>
              <a:t>Feedback is collected.</a:t>
            </a:r>
          </a:p>
          <a:p>
            <a:pPr lvl="1"/>
            <a:r>
              <a:rPr lang="en-US" dirty="0"/>
              <a:t>This helps refine the Product Backlog.</a:t>
            </a:r>
          </a:p>
          <a:p>
            <a:pPr lvl="1"/>
            <a:r>
              <a:rPr lang="en-US" dirty="0"/>
              <a:t>This is shown by the team presenting work in the image.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19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25C7-4969-57EA-3CBA-C5E155E3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8AF0-C778-E577-4FEB-9688B505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Workflow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C82F-6B2E-F5C6-707B-8AC410BA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Finished Work</a:t>
            </a:r>
          </a:p>
          <a:p>
            <a:r>
              <a:rPr lang="en-US" dirty="0"/>
              <a:t>The work delivered in the sprint is:</a:t>
            </a:r>
          </a:p>
          <a:p>
            <a:pPr lvl="1"/>
            <a:r>
              <a:rPr lang="en-US" dirty="0"/>
              <a:t>Fully developed</a:t>
            </a:r>
          </a:p>
          <a:p>
            <a:pPr lvl="1"/>
            <a:r>
              <a:rPr lang="en-US" dirty="0"/>
              <a:t>Fully tested</a:t>
            </a:r>
          </a:p>
          <a:p>
            <a:pPr lvl="1"/>
            <a:r>
              <a:rPr lang="en-US" dirty="0"/>
              <a:t>Potentially shippable</a:t>
            </a:r>
          </a:p>
          <a:p>
            <a:r>
              <a:rPr lang="en-US" dirty="0"/>
              <a:t>Shown on the right side as </a:t>
            </a:r>
            <a:r>
              <a:rPr lang="en-US" b="1" dirty="0"/>
              <a:t>Finished Work (box)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becomes part of the product.</a:t>
            </a:r>
          </a:p>
          <a:p>
            <a:pPr marL="0" indent="0">
              <a:buNone/>
            </a:pPr>
            <a:r>
              <a:rPr lang="en-US" b="1" dirty="0"/>
              <a:t>Sprint Retrospective</a:t>
            </a:r>
          </a:p>
          <a:p>
            <a:r>
              <a:rPr lang="en-US" dirty="0"/>
              <a:t>After the sprint review, the team meets internally to discuss:</a:t>
            </a:r>
          </a:p>
          <a:p>
            <a:pPr lvl="1"/>
            <a:r>
              <a:rPr lang="en-US" dirty="0"/>
              <a:t>What went well</a:t>
            </a:r>
          </a:p>
          <a:p>
            <a:pPr lvl="1"/>
            <a:r>
              <a:rPr lang="en-US" dirty="0"/>
              <a:t>What didn’t go well</a:t>
            </a:r>
          </a:p>
          <a:p>
            <a:pPr lvl="1"/>
            <a:r>
              <a:rPr lang="en-US" dirty="0"/>
              <a:t>What can be improved in the next sprint</a:t>
            </a:r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Action items for continuous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81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221D-CE62-3F35-635B-47B779E8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EEF82A-8915-B77E-0801-1BC029C03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Owner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gathers and prioritizes ideas → Product Backlog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selects work → Sprint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is broken into tasks → Sprint Backlog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begins (1–4 weeks)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stand-up every 24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Master ensures process + tracks burndown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 of sprint → Finished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Review with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Retrospective with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 repeats with next Sprint</a:t>
            </a:r>
          </a:p>
        </p:txBody>
      </p:sp>
    </p:spTree>
    <p:extLst>
      <p:ext uri="{BB962C8B-B14F-4D97-AF65-F5344CB8AC3E}">
        <p14:creationId xmlns:p14="http://schemas.microsoft.com/office/powerpoint/2010/main" val="346534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4E8D-530B-497E-A94A-555F1B92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2C136-B27A-4A33-B74C-18C12FA7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Scrum has 3 core roles:</a:t>
            </a:r>
            <a:endParaRPr lang="en-US" dirty="0"/>
          </a:p>
          <a:p>
            <a:r>
              <a:rPr lang="en-US" b="1" dirty="0"/>
              <a:t>Product Owner (PO):</a:t>
            </a:r>
            <a:endParaRPr lang="en-US" dirty="0"/>
          </a:p>
          <a:p>
            <a:pPr lvl="1"/>
            <a:r>
              <a:rPr lang="en-US" dirty="0"/>
              <a:t>Defines product vision and goals.</a:t>
            </a:r>
          </a:p>
          <a:p>
            <a:pPr lvl="1"/>
            <a:r>
              <a:rPr lang="en-US" dirty="0"/>
              <a:t>Manages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Prioritizes features and represents stakeholders/customers.</a:t>
            </a:r>
          </a:p>
          <a:p>
            <a:r>
              <a:rPr lang="en-US" b="1" dirty="0"/>
              <a:t>Scrum Master (SM):</a:t>
            </a:r>
            <a:endParaRPr lang="en-US" dirty="0"/>
          </a:p>
          <a:p>
            <a:pPr lvl="1"/>
            <a:r>
              <a:rPr lang="en-US" dirty="0"/>
              <a:t>Facilitates the Scrum process.</a:t>
            </a:r>
          </a:p>
          <a:p>
            <a:pPr lvl="1"/>
            <a:r>
              <a:rPr lang="en-US" dirty="0"/>
              <a:t>Removes impediments and ensures team follows Agile principles.</a:t>
            </a:r>
          </a:p>
          <a:p>
            <a:pPr lvl="1"/>
            <a:r>
              <a:rPr lang="en-US" dirty="0"/>
              <a:t>Acts as a </a:t>
            </a:r>
            <a:r>
              <a:rPr lang="en-US" b="1" dirty="0"/>
              <a:t>servant leader</a:t>
            </a:r>
            <a:r>
              <a:rPr lang="en-US" dirty="0"/>
              <a:t> for the team.</a:t>
            </a:r>
          </a:p>
          <a:p>
            <a:r>
              <a:rPr lang="en-US" b="1" dirty="0"/>
              <a:t>Development Team:</a:t>
            </a:r>
            <a:endParaRPr lang="en-US" dirty="0"/>
          </a:p>
          <a:p>
            <a:pPr lvl="1"/>
            <a:r>
              <a:rPr lang="en-US" dirty="0"/>
              <a:t>Cross-functional group (developers, testers, designers).</a:t>
            </a:r>
          </a:p>
          <a:p>
            <a:pPr lvl="1"/>
            <a:r>
              <a:rPr lang="en-US" dirty="0"/>
              <a:t>Self-organizing and responsible for delivering Sprint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46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912-6C22-49F6-8DAD-F65105A3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 (PO)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DC0C-0778-4ACB-9A3E-F5F5AE27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Product Owner</a:t>
            </a:r>
            <a:r>
              <a:rPr lang="en-US" dirty="0"/>
              <a:t> is responsible for </a:t>
            </a:r>
            <a:r>
              <a:rPr lang="en-US" b="1" dirty="0"/>
              <a:t>maximizing the value</a:t>
            </a:r>
            <a:r>
              <a:rPr lang="en-US" dirty="0"/>
              <a:t> of the product and managing the </a:t>
            </a:r>
            <a:r>
              <a:rPr lang="en-US" b="1" dirty="0"/>
              <a:t>Product Backlog</a:t>
            </a:r>
            <a:r>
              <a:rPr lang="en-US" dirty="0"/>
              <a:t>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Defines the </a:t>
            </a:r>
            <a:r>
              <a:rPr lang="en-US" b="1" dirty="0"/>
              <a:t>vision</a:t>
            </a:r>
            <a:r>
              <a:rPr lang="en-US" dirty="0"/>
              <a:t> (e.g., “Allow users to order food from local restaurants easily”).</a:t>
            </a:r>
          </a:p>
          <a:p>
            <a:pPr lvl="1"/>
            <a:r>
              <a:rPr lang="en-US" dirty="0"/>
              <a:t>Creates and prioritizes </a:t>
            </a:r>
            <a:r>
              <a:rPr lang="en-US" b="1" dirty="0"/>
              <a:t>user stories</a:t>
            </a:r>
            <a:r>
              <a:rPr lang="en-US" dirty="0"/>
              <a:t> in the </a:t>
            </a:r>
            <a:r>
              <a:rPr lang="en-US" b="1" dirty="0"/>
              <a:t>Product Backlog</a:t>
            </a:r>
            <a:r>
              <a:rPr lang="en-US" dirty="0"/>
              <a:t> (e.g., login feature, restaurant listing, payment integration).</a:t>
            </a:r>
          </a:p>
          <a:p>
            <a:pPr lvl="1"/>
            <a:r>
              <a:rPr lang="en-US" dirty="0"/>
              <a:t>Communicates with </a:t>
            </a:r>
            <a:r>
              <a:rPr lang="en-US" b="1" dirty="0"/>
              <a:t>stakeholders</a:t>
            </a:r>
            <a:r>
              <a:rPr lang="en-US" dirty="0"/>
              <a:t> (marketing team, restaurant partners, investors).</a:t>
            </a:r>
          </a:p>
          <a:p>
            <a:pPr lvl="1"/>
            <a:r>
              <a:rPr lang="en-US" dirty="0"/>
              <a:t>Decides </a:t>
            </a:r>
            <a:r>
              <a:rPr lang="en-US" b="1" dirty="0"/>
              <a:t>what gets built first</a:t>
            </a:r>
            <a:r>
              <a:rPr lang="en-US" dirty="0"/>
              <a:t> based on business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5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912-6C22-49F6-8DAD-F65105A3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 (PO)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DC0C-0778-4ACB-9A3E-F5F5AE27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Product Owner decides that the first Sprint should focus on:</a:t>
            </a:r>
          </a:p>
          <a:p>
            <a:r>
              <a:rPr lang="en-US" dirty="0"/>
              <a:t>User registration and login</a:t>
            </a:r>
          </a:p>
          <a:p>
            <a:r>
              <a:rPr lang="en-US" dirty="0"/>
              <a:t>Basic restaurant list display</a:t>
            </a:r>
          </a:p>
          <a:p>
            <a:r>
              <a:rPr lang="en-US" dirty="0"/>
              <a:t>“As a user, I want to sign up with Google or email so I can quickly access the app.”</a:t>
            </a:r>
          </a:p>
        </p:txBody>
      </p:sp>
    </p:spTree>
    <p:extLst>
      <p:ext uri="{BB962C8B-B14F-4D97-AF65-F5344CB8AC3E}">
        <p14:creationId xmlns:p14="http://schemas.microsoft.com/office/powerpoint/2010/main" val="723931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9255-E161-419D-A6B3-914B17D6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 (SM)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5B68-6277-4BA4-9576-1B0C96ACF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Scrum Master</a:t>
            </a:r>
            <a:r>
              <a:rPr lang="en-US" dirty="0"/>
              <a:t> acts as a </a:t>
            </a:r>
            <a:r>
              <a:rPr lang="en-US" b="1" dirty="0"/>
              <a:t>facilitator</a:t>
            </a:r>
            <a:r>
              <a:rPr lang="en-US" dirty="0"/>
              <a:t> and </a:t>
            </a:r>
            <a:r>
              <a:rPr lang="en-US" b="1" dirty="0"/>
              <a:t>coach</a:t>
            </a:r>
            <a:r>
              <a:rPr lang="en-US" dirty="0"/>
              <a:t> for the team.</a:t>
            </a:r>
            <a:br>
              <a:rPr lang="en-US" dirty="0"/>
            </a:br>
            <a:r>
              <a:rPr lang="en-US" dirty="0"/>
              <a:t>They ensure that </a:t>
            </a:r>
            <a:r>
              <a:rPr lang="en-US" b="1" dirty="0"/>
              <a:t>Scrum principles</a:t>
            </a:r>
            <a:r>
              <a:rPr lang="en-US" dirty="0"/>
              <a:t> are followed and remove obstacles.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Conducts </a:t>
            </a:r>
            <a:r>
              <a:rPr lang="en-US" b="1" dirty="0"/>
              <a:t>Scrum ceremonies</a:t>
            </a:r>
            <a:r>
              <a:rPr lang="en-US" dirty="0"/>
              <a:t>: Daily Stand-up, Sprint Planning, Review, Retrospective.</a:t>
            </a:r>
          </a:p>
          <a:p>
            <a:pPr lvl="1"/>
            <a:r>
              <a:rPr lang="en-US" dirty="0"/>
              <a:t>Removes </a:t>
            </a:r>
            <a:r>
              <a:rPr lang="en-US" b="1" dirty="0"/>
              <a:t>impediments</a:t>
            </a:r>
            <a:r>
              <a:rPr lang="en-US" dirty="0"/>
              <a:t> (e.g., a developer is blocked due to missing API documentation).</a:t>
            </a:r>
          </a:p>
          <a:p>
            <a:pPr lvl="1"/>
            <a:r>
              <a:rPr lang="en-US" dirty="0"/>
              <a:t>Helps the team </a:t>
            </a:r>
            <a:r>
              <a:rPr lang="en-US" b="1" dirty="0"/>
              <a:t>improve processes</a:t>
            </a:r>
            <a:r>
              <a:rPr lang="en-US" dirty="0"/>
              <a:t> and stay </a:t>
            </a:r>
            <a:r>
              <a:rPr lang="en-US" b="1" dirty="0"/>
              <a:t>self-organized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Shields the team from external distractions.</a:t>
            </a:r>
          </a:p>
          <a:p>
            <a:r>
              <a:rPr lang="en-US" b="1" dirty="0"/>
              <a:t>Example (</a:t>
            </a:r>
            <a:r>
              <a:rPr lang="en-US" b="1" dirty="0" err="1"/>
              <a:t>QuickBite</a:t>
            </a:r>
            <a:r>
              <a:rPr lang="en-US" b="1" dirty="0"/>
              <a:t> App)</a:t>
            </a:r>
          </a:p>
          <a:p>
            <a:pPr lvl="1"/>
            <a:r>
              <a:rPr lang="en-US" dirty="0"/>
              <a:t>During Sprint 2, the developers face a delay because the API team hasn’t provided endpoints for restaurant data.</a:t>
            </a:r>
          </a:p>
          <a:p>
            <a:pPr lvl="1"/>
            <a:r>
              <a:rPr lang="en-US" dirty="0"/>
              <a:t>The Scrum Master arranges a </a:t>
            </a:r>
            <a:r>
              <a:rPr lang="en-US" b="1" dirty="0"/>
              <a:t>quick sync meeting</a:t>
            </a:r>
            <a:r>
              <a:rPr lang="en-US" dirty="0"/>
              <a:t> between the mobile and API teams to resolve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86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21CD-AE12-4E83-826C-E4B3F421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E4679-70C3-4249-9CC0-EEB0ECEC2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Role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Development Team</a:t>
            </a:r>
            <a:r>
              <a:rPr lang="en-US" dirty="0"/>
              <a:t> builds the </a:t>
            </a:r>
            <a:r>
              <a:rPr lang="en-US" b="1" dirty="0"/>
              <a:t>working product increment</a:t>
            </a:r>
            <a:r>
              <a:rPr lang="en-US" dirty="0"/>
              <a:t> at the end of each Sprint.</a:t>
            </a:r>
          </a:p>
          <a:p>
            <a:r>
              <a:rPr lang="en-US" b="1" dirty="0"/>
              <a:t>Responsibilities</a:t>
            </a:r>
          </a:p>
          <a:p>
            <a:pPr lvl="1"/>
            <a:r>
              <a:rPr lang="en-US" dirty="0"/>
              <a:t>Selects </a:t>
            </a:r>
            <a:r>
              <a:rPr lang="en-US" b="1" dirty="0"/>
              <a:t>work items</a:t>
            </a:r>
            <a:r>
              <a:rPr lang="en-US" dirty="0"/>
              <a:t> for the Sprint (from backlog).</a:t>
            </a:r>
          </a:p>
          <a:p>
            <a:pPr lvl="1"/>
            <a:r>
              <a:rPr lang="en-US" b="1" dirty="0"/>
              <a:t>Designs, codes, tests</a:t>
            </a:r>
            <a:r>
              <a:rPr lang="en-US" dirty="0"/>
              <a:t>, and delivers working features.</a:t>
            </a:r>
          </a:p>
          <a:p>
            <a:pPr lvl="1"/>
            <a:r>
              <a:rPr lang="en-US" dirty="0"/>
              <a:t>Participates in </a:t>
            </a:r>
            <a:r>
              <a:rPr lang="en-US" b="1" dirty="0"/>
              <a:t>Sprint ceremonies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quality and integration</a:t>
            </a:r>
            <a:r>
              <a:rPr lang="en-US" dirty="0"/>
              <a:t> across components.</a:t>
            </a:r>
          </a:p>
          <a:p>
            <a:r>
              <a:rPr lang="en-US" b="1" dirty="0"/>
              <a:t>Example (</a:t>
            </a:r>
            <a:r>
              <a:rPr lang="en-US" b="1" dirty="0" err="1"/>
              <a:t>QuickBite</a:t>
            </a:r>
            <a:r>
              <a:rPr lang="en-US" b="1" dirty="0"/>
              <a:t> App)</a:t>
            </a:r>
          </a:p>
          <a:p>
            <a:pPr lvl="1"/>
            <a:r>
              <a:rPr lang="en-US" dirty="0"/>
              <a:t>During Sprint 3, the Development Team commits to:</a:t>
            </a:r>
          </a:p>
          <a:p>
            <a:pPr lvl="1"/>
            <a:r>
              <a:rPr lang="en-US" dirty="0"/>
              <a:t>Implementing “Add to Cart” and “Checkout” functionality.</a:t>
            </a:r>
          </a:p>
          <a:p>
            <a:pPr lvl="1"/>
            <a:r>
              <a:rPr lang="en-US" dirty="0"/>
              <a:t>Testing payment gateway integration.</a:t>
            </a:r>
          </a:p>
          <a:p>
            <a:pPr lvl="1"/>
            <a:r>
              <a:rPr lang="en-US" dirty="0"/>
              <a:t>At the end of the Sprint, they </a:t>
            </a:r>
            <a:r>
              <a:rPr lang="en-US" b="1" dirty="0"/>
              <a:t>demo</a:t>
            </a:r>
            <a:r>
              <a:rPr lang="en-US" dirty="0"/>
              <a:t> the working app in the </a:t>
            </a:r>
            <a:r>
              <a:rPr lang="en-US" b="1" dirty="0"/>
              <a:t>Sprint Review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99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11FA-6DFB-4627-BF66-1C0240E1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Events (Ceremonies)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BD57-908B-481B-98C9-726B8D5B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Scrum has </a:t>
            </a:r>
            <a:r>
              <a:rPr lang="en-US" b="1" dirty="0"/>
              <a:t>5 key events:</a:t>
            </a:r>
            <a:endParaRPr lang="en-US" dirty="0"/>
          </a:p>
          <a:p>
            <a:r>
              <a:rPr lang="en-US" b="1" dirty="0"/>
              <a:t>Sprint:</a:t>
            </a:r>
            <a:endParaRPr lang="en-US" dirty="0"/>
          </a:p>
          <a:p>
            <a:pPr lvl="1"/>
            <a:r>
              <a:rPr lang="en-US" dirty="0"/>
              <a:t>Time-boxed iteration (2–4 weeks).</a:t>
            </a:r>
          </a:p>
          <a:p>
            <a:pPr lvl="1"/>
            <a:r>
              <a:rPr lang="en-US" dirty="0"/>
              <a:t>Goal: deliver a usable product increment.</a:t>
            </a:r>
          </a:p>
          <a:p>
            <a:r>
              <a:rPr lang="en-US" b="1" dirty="0"/>
              <a:t>Sprint Planning:</a:t>
            </a:r>
            <a:endParaRPr lang="en-US" dirty="0"/>
          </a:p>
          <a:p>
            <a:pPr lvl="1"/>
            <a:r>
              <a:rPr lang="en-US" dirty="0"/>
              <a:t>Defines </a:t>
            </a:r>
            <a:r>
              <a:rPr lang="en-US" b="1" dirty="0"/>
              <a:t>Sprint Goal</a:t>
            </a:r>
            <a:r>
              <a:rPr lang="en-US" dirty="0"/>
              <a:t> and items to be completed.</a:t>
            </a:r>
          </a:p>
          <a:p>
            <a:pPr lvl="1"/>
            <a:r>
              <a:rPr lang="en-US" dirty="0"/>
              <a:t>Involves PO, SM, and Dev Team.</a:t>
            </a:r>
          </a:p>
          <a:p>
            <a:r>
              <a:rPr lang="en-US" b="1" dirty="0"/>
              <a:t>Daily Scrum (Stand-up):</a:t>
            </a:r>
            <a:endParaRPr lang="en-US" dirty="0"/>
          </a:p>
          <a:p>
            <a:pPr lvl="1"/>
            <a:r>
              <a:rPr lang="en-US" dirty="0"/>
              <a:t>15-minute daily meeting.</a:t>
            </a:r>
          </a:p>
          <a:p>
            <a:pPr lvl="1"/>
            <a:r>
              <a:rPr lang="en-US" dirty="0"/>
              <a:t>Each member answers:</a:t>
            </a:r>
          </a:p>
          <a:p>
            <a:pPr lvl="2"/>
            <a:r>
              <a:rPr lang="en-US" dirty="0"/>
              <a:t>What did I do yesterday?</a:t>
            </a:r>
          </a:p>
          <a:p>
            <a:pPr lvl="2"/>
            <a:r>
              <a:rPr lang="en-US" dirty="0"/>
              <a:t>What will I do today?</a:t>
            </a:r>
          </a:p>
          <a:p>
            <a:pPr lvl="2"/>
            <a:r>
              <a:rPr lang="en-US" dirty="0"/>
              <a:t>Any blockers?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71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11FA-6DFB-4627-BF66-1C0240E1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Events (Ceremonies)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BD57-908B-481B-98C9-726B8D5B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Sprint Review:</a:t>
            </a:r>
            <a:endParaRPr lang="en-US" dirty="0"/>
          </a:p>
          <a:p>
            <a:pPr lvl="1"/>
            <a:r>
              <a:rPr lang="en-US" dirty="0"/>
              <a:t>Held at end of Sprint to </a:t>
            </a:r>
            <a:r>
              <a:rPr lang="en-US" b="1" dirty="0"/>
              <a:t>demonstrate</a:t>
            </a:r>
            <a:r>
              <a:rPr lang="en-US" dirty="0"/>
              <a:t> completed work.</a:t>
            </a:r>
          </a:p>
          <a:p>
            <a:pPr lvl="1"/>
            <a:r>
              <a:rPr lang="en-US" dirty="0"/>
              <a:t>Stakeholders provide feedback.</a:t>
            </a:r>
          </a:p>
          <a:p>
            <a:r>
              <a:rPr lang="en-US" b="1" dirty="0"/>
              <a:t>Sprint Retrospective:</a:t>
            </a:r>
            <a:endParaRPr lang="en-US" dirty="0"/>
          </a:p>
          <a:p>
            <a:pPr lvl="1"/>
            <a:r>
              <a:rPr lang="en-US" dirty="0"/>
              <a:t>Reflects on what went well, what didn’t, and how to improve.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95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BC9D-038C-4450-BBBB-079DA69C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D6DA3-7BB5-4BE3-8C05-CF5D1FEC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Purpose</a:t>
            </a:r>
          </a:p>
          <a:p>
            <a:r>
              <a:rPr lang="en-US" dirty="0"/>
              <a:t>The </a:t>
            </a:r>
            <a:r>
              <a:rPr lang="en-US" b="1" dirty="0"/>
              <a:t>Sprint</a:t>
            </a:r>
            <a:r>
              <a:rPr lang="en-US" dirty="0"/>
              <a:t> is the </a:t>
            </a:r>
            <a:r>
              <a:rPr lang="en-US" i="1" dirty="0"/>
              <a:t>heart of Scrum</a:t>
            </a:r>
            <a:r>
              <a:rPr lang="en-US" dirty="0"/>
              <a:t>. It’s a </a:t>
            </a:r>
            <a:r>
              <a:rPr lang="en-US" b="1" dirty="0"/>
              <a:t>fixed timebox (1–4 weeks)</a:t>
            </a:r>
            <a:r>
              <a:rPr lang="en-US" dirty="0"/>
              <a:t> during which the team develops a </a:t>
            </a:r>
            <a:r>
              <a:rPr lang="en-US" b="1" dirty="0"/>
              <a:t>working, usable product increment</a:t>
            </a:r>
            <a:r>
              <a:rPr lang="en-US" dirty="0"/>
              <a:t>.</a:t>
            </a:r>
          </a:p>
          <a:p>
            <a:r>
              <a:rPr lang="en-US" b="1" dirty="0"/>
              <a:t>Example: Mobile Banking App</a:t>
            </a:r>
          </a:p>
          <a:p>
            <a:pPr lvl="1"/>
            <a:r>
              <a:rPr lang="en-US" dirty="0"/>
              <a:t>Let’s assume your team has planned a </a:t>
            </a:r>
            <a:r>
              <a:rPr lang="en-US" b="1" dirty="0"/>
              <a:t>2-week Sprint</a:t>
            </a:r>
            <a:r>
              <a:rPr lang="en-US" dirty="0"/>
              <a:t> to develop:</a:t>
            </a:r>
          </a:p>
          <a:p>
            <a:pPr lvl="1"/>
            <a:r>
              <a:rPr lang="en-US" dirty="0"/>
              <a:t>“Login functionality”</a:t>
            </a:r>
          </a:p>
          <a:p>
            <a:pPr lvl="1"/>
            <a:r>
              <a:rPr lang="en-US" dirty="0"/>
              <a:t>“View account balance”</a:t>
            </a:r>
          </a:p>
          <a:p>
            <a:r>
              <a:rPr lang="en-US" b="1" dirty="0"/>
              <a:t>Activities within a Sprint</a:t>
            </a:r>
          </a:p>
          <a:p>
            <a:pPr lvl="1"/>
            <a:r>
              <a:rPr lang="en-US" dirty="0"/>
              <a:t>All other events (Planning, Daily Scrum, Review, Retrospective) occur within this Sprint.</a:t>
            </a:r>
          </a:p>
          <a:p>
            <a:pPr lvl="1"/>
            <a:r>
              <a:rPr lang="en-US" dirty="0"/>
              <a:t>The team works only on items defined in the </a:t>
            </a:r>
            <a:r>
              <a:rPr lang="en-US" b="1" dirty="0"/>
              <a:t>Sprint Backlog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changes that endanger the Sprint Goal are made.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potentially shippable product increment</a:t>
            </a:r>
            <a:r>
              <a:rPr lang="en-US" dirty="0"/>
              <a:t>, e.g.:</a:t>
            </a:r>
          </a:p>
          <a:p>
            <a:pPr lvl="1"/>
            <a:r>
              <a:rPr lang="en-US" dirty="0"/>
              <a:t>Users can log in securely and see their account balance.</a:t>
            </a:r>
          </a:p>
        </p:txBody>
      </p:sp>
    </p:spTree>
    <p:extLst>
      <p:ext uri="{BB962C8B-B14F-4D97-AF65-F5344CB8AC3E}">
        <p14:creationId xmlns:p14="http://schemas.microsoft.com/office/powerpoint/2010/main" val="2829001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6FEB-BE81-478F-B519-932CF159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B8B1-CBA8-4692-B987-91C61DC7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pPr lvl="1"/>
            <a:r>
              <a:rPr lang="en-US" dirty="0"/>
              <a:t>To define </a:t>
            </a:r>
            <a:r>
              <a:rPr lang="en-US" b="1" dirty="0"/>
              <a:t>what can be delivered</a:t>
            </a:r>
            <a:r>
              <a:rPr lang="en-US" dirty="0"/>
              <a:t> in the Sprint and </a:t>
            </a:r>
            <a:r>
              <a:rPr lang="en-US" b="1" dirty="0"/>
              <a:t>how</a:t>
            </a:r>
            <a:r>
              <a:rPr lang="en-US" dirty="0"/>
              <a:t> that work will be achieved.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Product Owner (defines priorities)</a:t>
            </a:r>
          </a:p>
          <a:p>
            <a:pPr lvl="1"/>
            <a:r>
              <a:rPr lang="en-US" dirty="0"/>
              <a:t>Scrum Master (facilitates)</a:t>
            </a:r>
          </a:p>
          <a:p>
            <a:pPr lvl="1"/>
            <a:r>
              <a:rPr lang="en-US" dirty="0"/>
              <a:t>Development Team (plans execution)</a:t>
            </a:r>
          </a:p>
          <a:p>
            <a:r>
              <a:rPr lang="en-US" b="1" dirty="0"/>
              <a:t> Example</a:t>
            </a:r>
          </a:p>
          <a:p>
            <a:pPr lvl="1"/>
            <a:r>
              <a:rPr lang="en-US" b="1" dirty="0"/>
              <a:t>Product Owner</a:t>
            </a:r>
            <a:r>
              <a:rPr lang="en-US" dirty="0"/>
              <a:t> shows the top items in the </a:t>
            </a:r>
            <a:r>
              <a:rPr lang="en-US" b="1" dirty="0"/>
              <a:t>Product Backlog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Login with mobile number (high priority)</a:t>
            </a:r>
          </a:p>
          <a:p>
            <a:pPr lvl="1"/>
            <a:r>
              <a:rPr lang="en-US" dirty="0"/>
              <a:t>Account balance view</a:t>
            </a:r>
          </a:p>
          <a:p>
            <a:pPr lvl="1"/>
            <a:r>
              <a:rPr lang="en-US" dirty="0"/>
              <a:t>Fund transfer setup</a:t>
            </a:r>
          </a:p>
          <a:p>
            <a:r>
              <a:rPr lang="en-US" b="1" dirty="0"/>
              <a:t>Team discussion:</a:t>
            </a:r>
            <a:endParaRPr lang="en-US" dirty="0"/>
          </a:p>
          <a:p>
            <a:pPr lvl="1"/>
            <a:r>
              <a:rPr lang="en-US" dirty="0"/>
              <a:t>Developers assess effort → Login (5 story points), Balance View (8 points)</a:t>
            </a:r>
          </a:p>
          <a:p>
            <a:pPr lvl="1"/>
            <a:r>
              <a:rPr lang="en-US" dirty="0"/>
              <a:t>They commit to these two as achievable in 2 weeks.</a:t>
            </a:r>
          </a:p>
          <a:p>
            <a:pPr lvl="1"/>
            <a:r>
              <a:rPr lang="en-US" dirty="0"/>
              <a:t>They define a </a:t>
            </a:r>
            <a:r>
              <a:rPr lang="en-US" b="1" dirty="0"/>
              <a:t>Sprint Goal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“Enable users to securely log in and view their account balance.”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b="1" dirty="0"/>
              <a:t>Sprint Goal</a:t>
            </a:r>
            <a:endParaRPr lang="en-US" dirty="0"/>
          </a:p>
          <a:p>
            <a:pPr lvl="1"/>
            <a:r>
              <a:rPr lang="en-US" b="1" dirty="0"/>
              <a:t>Sprint Backlog</a:t>
            </a:r>
            <a:r>
              <a:rPr lang="en-US" dirty="0"/>
              <a:t> (list of selected backlog items)</a:t>
            </a:r>
          </a:p>
          <a:p>
            <a:pPr lvl="1"/>
            <a:r>
              <a:rPr lang="en-US" b="1" dirty="0"/>
              <a:t>Initial plan</a:t>
            </a:r>
            <a:r>
              <a:rPr lang="en-US" dirty="0"/>
              <a:t> for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06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0912-7F8A-4239-89F1-1FA7BDA0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Scrum (Daily Stand-up)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6DF4E-3D41-42CF-8944-69E1E37C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500" y="2824350"/>
            <a:ext cx="9601196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15-minute daily meeting</a:t>
            </a:r>
            <a:r>
              <a:rPr lang="en-US" dirty="0"/>
              <a:t> for the Development Team to inspect progress and plan for the next 24 hours.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Development Team (mandatory)</a:t>
            </a:r>
          </a:p>
          <a:p>
            <a:pPr lvl="1"/>
            <a:r>
              <a:rPr lang="en-US" dirty="0"/>
              <a:t>Scrum Master and Product Owner (optional observers)</a:t>
            </a:r>
          </a:p>
          <a:p>
            <a:r>
              <a:rPr lang="en-US" b="1" dirty="0"/>
              <a:t>Outcome</a:t>
            </a:r>
          </a:p>
          <a:p>
            <a:pPr lvl="1"/>
            <a:r>
              <a:rPr lang="en-US" dirty="0"/>
              <a:t>Team synchronizes and identifies blockers early — Scrum Master helps remove them (e.g., get security approval quickly).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19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3A1C-5698-4A1B-BD36-56C5711F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8FEF-96C6-457E-89D5-67CCA48B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Purpose</a:t>
            </a:r>
          </a:p>
          <a:p>
            <a:pPr lvl="1"/>
            <a:r>
              <a:rPr lang="en-US" dirty="0"/>
              <a:t>Held </a:t>
            </a:r>
            <a:r>
              <a:rPr lang="en-US" b="1" dirty="0"/>
              <a:t>at the end of the Sprint</a:t>
            </a:r>
            <a:r>
              <a:rPr lang="en-US" dirty="0"/>
              <a:t> to inspect the increment and gather feedback from stakeholders.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Scrum Team (PO, SM, Dev)</a:t>
            </a:r>
          </a:p>
          <a:p>
            <a:pPr lvl="1"/>
            <a:r>
              <a:rPr lang="en-US" dirty="0"/>
              <a:t>Stakeholders (clients, managers, users)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At the end of 2 weeks:</a:t>
            </a:r>
          </a:p>
          <a:p>
            <a:pPr lvl="1"/>
            <a:r>
              <a:rPr lang="en-US" dirty="0"/>
              <a:t>The team </a:t>
            </a:r>
            <a:r>
              <a:rPr lang="en-US" b="1" dirty="0"/>
              <a:t>demos</a:t>
            </a:r>
            <a:r>
              <a:rPr lang="en-US" dirty="0"/>
              <a:t> the new login and balance features.</a:t>
            </a:r>
          </a:p>
          <a:p>
            <a:pPr lvl="1"/>
            <a:r>
              <a:rPr lang="en-US" dirty="0"/>
              <a:t>Stakeholders test and give feedback:</a:t>
            </a:r>
          </a:p>
          <a:p>
            <a:pPr lvl="2"/>
            <a:r>
              <a:rPr lang="en-US" dirty="0"/>
              <a:t>“Can we add biometric login in future Sprints?”</a:t>
            </a:r>
          </a:p>
          <a:p>
            <a:pPr lvl="2"/>
            <a:r>
              <a:rPr lang="en-US" dirty="0"/>
              <a:t>“Add last login time on dashboard.”</a:t>
            </a:r>
          </a:p>
          <a:p>
            <a:r>
              <a:rPr lang="en-US" b="1" dirty="0"/>
              <a:t>Product Owner</a:t>
            </a:r>
            <a:r>
              <a:rPr lang="en-US" dirty="0"/>
              <a:t> updates the </a:t>
            </a:r>
            <a:r>
              <a:rPr lang="en-US" b="1" dirty="0"/>
              <a:t>Product Backlog</a:t>
            </a:r>
            <a:r>
              <a:rPr lang="en-US" dirty="0"/>
              <a:t> accordingly:</a:t>
            </a:r>
          </a:p>
          <a:p>
            <a:pPr lvl="1"/>
            <a:r>
              <a:rPr lang="en-US" dirty="0"/>
              <a:t>Adds “Biometric login” as a new feature for next Sprints.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Updated Product Backlog (with stakeholder feedback)</a:t>
            </a:r>
          </a:p>
          <a:p>
            <a:pPr lvl="1"/>
            <a:r>
              <a:rPr lang="en-US" dirty="0"/>
              <a:t>Improved understanding of customer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75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E6E4-870F-4F08-8420-251390C0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3BBF8-39FC-4FFC-936D-A2CF37AEC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Purpose</a:t>
            </a:r>
          </a:p>
          <a:p>
            <a:pPr lvl="1"/>
            <a:r>
              <a:rPr lang="en-US" dirty="0"/>
              <a:t>To reflect on the past Sprint and </a:t>
            </a:r>
            <a:r>
              <a:rPr lang="en-US" b="1" dirty="0"/>
              <a:t>identify ways to improve</a:t>
            </a:r>
            <a:r>
              <a:rPr lang="en-US" dirty="0"/>
              <a:t> team collaboration, tools, or process.</a:t>
            </a:r>
          </a:p>
          <a:p>
            <a:r>
              <a:rPr lang="en-US" b="1" dirty="0"/>
              <a:t>Participants</a:t>
            </a:r>
          </a:p>
          <a:p>
            <a:pPr lvl="1"/>
            <a:r>
              <a:rPr lang="en-US" dirty="0"/>
              <a:t>Entire Scrum Team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After the Sprint Review, the team meets privately:</a:t>
            </a:r>
          </a:p>
          <a:p>
            <a:r>
              <a:rPr lang="en-US" b="1" dirty="0"/>
              <a:t>What went well?</a:t>
            </a:r>
            <a:endParaRPr lang="en-US" dirty="0"/>
          </a:p>
          <a:p>
            <a:pPr lvl="1"/>
            <a:r>
              <a:rPr lang="en-US" dirty="0"/>
              <a:t>Daily Scrums helped communication.</a:t>
            </a:r>
          </a:p>
          <a:p>
            <a:pPr lvl="1"/>
            <a:r>
              <a:rPr lang="en-US" dirty="0"/>
              <a:t>Login module delivered on time.</a:t>
            </a:r>
          </a:p>
          <a:p>
            <a:r>
              <a:rPr lang="en-US" b="1" dirty="0"/>
              <a:t>What didn’t go well?</a:t>
            </a:r>
            <a:endParaRPr lang="en-US" dirty="0"/>
          </a:p>
          <a:p>
            <a:pPr lvl="1"/>
            <a:r>
              <a:rPr lang="en-US" dirty="0"/>
              <a:t>Test environment was set up late.</a:t>
            </a:r>
          </a:p>
          <a:p>
            <a:pPr lvl="1"/>
            <a:r>
              <a:rPr lang="en-US" dirty="0"/>
              <a:t>API documentation was unclear.</a:t>
            </a:r>
          </a:p>
          <a:p>
            <a:r>
              <a:rPr lang="en-US" b="1" dirty="0"/>
              <a:t>Improvements for next Sprint:</a:t>
            </a:r>
            <a:endParaRPr lang="en-US" dirty="0"/>
          </a:p>
          <a:p>
            <a:pPr lvl="1"/>
            <a:r>
              <a:rPr lang="en-US" dirty="0"/>
              <a:t>Prepare test environment before Sprint.</a:t>
            </a:r>
          </a:p>
          <a:p>
            <a:pPr lvl="1"/>
            <a:r>
              <a:rPr lang="en-US" dirty="0"/>
              <a:t>Improve API documentation using Swagger.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b="1" dirty="0"/>
              <a:t>Action items</a:t>
            </a:r>
            <a:r>
              <a:rPr lang="en-US" dirty="0"/>
              <a:t> for process improvement (carried into next Sprint)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36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 1. Transparency</a:t>
            </a:r>
          </a:p>
          <a:p>
            <a:pPr lvl="1"/>
            <a:r>
              <a:rPr lang="en-US" dirty="0"/>
              <a:t>Everyone involved in the project must have a </a:t>
            </a:r>
            <a:r>
              <a:rPr lang="en-US" b="1" dirty="0"/>
              <a:t>clear and shared understanding</a:t>
            </a:r>
            <a:r>
              <a:rPr lang="en-US" dirty="0"/>
              <a:t> of the work, goals, progress, and process.</a:t>
            </a:r>
            <a:br>
              <a:rPr lang="en-US" dirty="0"/>
            </a:br>
            <a:r>
              <a:rPr lang="en-US" dirty="0"/>
              <a:t>All key aspects of the product and process should be </a:t>
            </a:r>
            <a:r>
              <a:rPr lang="en-US" b="1" dirty="0"/>
              <a:t>visible and understandable</a:t>
            </a:r>
            <a:r>
              <a:rPr lang="en-US" dirty="0"/>
              <a:t>.</a:t>
            </a:r>
          </a:p>
          <a:p>
            <a:r>
              <a:rPr lang="en-US" b="1" dirty="0"/>
              <a:t>Purpose:</a:t>
            </a:r>
          </a:p>
          <a:p>
            <a:pPr lvl="1"/>
            <a:r>
              <a:rPr lang="en-US" dirty="0"/>
              <a:t>Transparency prevents misunderstandings and ensures all stakeholders have the same expectations.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dirty="0"/>
              <a:t>Use of </a:t>
            </a:r>
            <a:r>
              <a:rPr lang="en-US" b="1" dirty="0"/>
              <a:t>Product Backlog</a:t>
            </a:r>
            <a:r>
              <a:rPr lang="en-US" dirty="0"/>
              <a:t>, </a:t>
            </a:r>
            <a:r>
              <a:rPr lang="en-US" b="1" dirty="0"/>
              <a:t>Sprint Backlog</a:t>
            </a:r>
            <a:r>
              <a:rPr lang="en-US" dirty="0"/>
              <a:t>, and </a:t>
            </a:r>
            <a:r>
              <a:rPr lang="en-US" b="1" dirty="0"/>
              <a:t>Definition of Done (DoD)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Daily Scrum</a:t>
            </a:r>
            <a:r>
              <a:rPr lang="en-US" dirty="0"/>
              <a:t> and </a:t>
            </a:r>
            <a:r>
              <a:rPr lang="en-US" b="1" dirty="0"/>
              <a:t>Sprint Review</a:t>
            </a:r>
            <a:r>
              <a:rPr lang="en-US" dirty="0"/>
              <a:t> meetings keep progress visible.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57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 2. Inspection</a:t>
            </a:r>
          </a:p>
          <a:p>
            <a:pPr lvl="1"/>
            <a:r>
              <a:rPr lang="en-US" dirty="0"/>
              <a:t>Regularly </a:t>
            </a:r>
            <a:r>
              <a:rPr lang="en-US" b="1" dirty="0"/>
              <a:t>check progress</a:t>
            </a:r>
            <a:r>
              <a:rPr lang="en-US" dirty="0"/>
              <a:t> toward the sprint and product goals to detect any deviations or issues early.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	Helps the team identify problems before they grow — ensuring continuous improvement.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b="1" dirty="0"/>
              <a:t>Daily Stand-up:</a:t>
            </a:r>
            <a:r>
              <a:rPr lang="en-US" dirty="0"/>
              <a:t> Team inspects progress and blockers daily.</a:t>
            </a:r>
          </a:p>
          <a:p>
            <a:pPr lvl="1"/>
            <a:r>
              <a:rPr lang="en-US" b="1" dirty="0"/>
              <a:t>Sprint Review:</a:t>
            </a:r>
            <a:r>
              <a:rPr lang="en-US" dirty="0"/>
              <a:t> The completed increment is inspected with stakeholders.</a:t>
            </a:r>
          </a:p>
          <a:p>
            <a:pPr lvl="1"/>
            <a:r>
              <a:rPr lang="en-US" b="1" dirty="0"/>
              <a:t>Retrospective:</a:t>
            </a:r>
            <a:r>
              <a:rPr lang="en-US" dirty="0"/>
              <a:t> Team inspects how they worked and what can be improved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2322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1BA-1513-409C-AC05-7045BDA9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Pillars of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485F2-5C6F-4FF2-A191-E6B8191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Adaptation</a:t>
            </a:r>
          </a:p>
          <a:p>
            <a:pPr lvl="1"/>
            <a:r>
              <a:rPr lang="en-US" dirty="0"/>
              <a:t>After inspection, the team </a:t>
            </a:r>
            <a:r>
              <a:rPr lang="en-US" b="1" dirty="0"/>
              <a:t>adjusts</a:t>
            </a:r>
            <a:r>
              <a:rPr lang="en-US" dirty="0"/>
              <a:t> the plan, tools, or approach to improve outcomes.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	To ensure the product and process continuously improve and respond to change.</a:t>
            </a:r>
          </a:p>
          <a:p>
            <a:r>
              <a:rPr lang="en-US" b="1" dirty="0"/>
              <a:t>How Scrum ensures it:</a:t>
            </a:r>
            <a:endParaRPr lang="en-US" dirty="0"/>
          </a:p>
          <a:p>
            <a:pPr lvl="1"/>
            <a:r>
              <a:rPr lang="en-US" b="1" dirty="0"/>
              <a:t>Backlog Refinement:</a:t>
            </a:r>
            <a:r>
              <a:rPr lang="en-US" dirty="0"/>
              <a:t> Adjust priorities based on user feedback or market needs.</a:t>
            </a:r>
          </a:p>
          <a:p>
            <a:pPr lvl="1"/>
            <a:r>
              <a:rPr lang="en-US" b="1" dirty="0"/>
              <a:t>Sprint Retrospective:</a:t>
            </a:r>
            <a:r>
              <a:rPr lang="en-US" dirty="0"/>
              <a:t> Adjust team processes for efficiency.</a:t>
            </a:r>
          </a:p>
          <a:p>
            <a:pPr lvl="1"/>
            <a:r>
              <a:rPr lang="en-US" b="1" dirty="0"/>
              <a:t>Next Sprint Planning:</a:t>
            </a:r>
            <a:r>
              <a:rPr lang="en-US" dirty="0"/>
              <a:t> Modify plans based on what was learned.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49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82A8-84B0-4F76-ADBB-9A13353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1CAE-327E-4D99-8A7F-FC16279A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Product Backlog:</a:t>
            </a:r>
            <a:endParaRPr lang="en-US" dirty="0"/>
          </a:p>
          <a:p>
            <a:pPr lvl="1"/>
            <a:r>
              <a:rPr lang="en-US" dirty="0"/>
              <a:t>Ordered list of all desired features, maintained by PO.</a:t>
            </a:r>
          </a:p>
          <a:p>
            <a:pPr lvl="1"/>
            <a:r>
              <a:rPr lang="en-US" dirty="0"/>
              <a:t>Constantly updated based on feedback.</a:t>
            </a:r>
          </a:p>
          <a:p>
            <a:r>
              <a:rPr lang="en-US" b="1" dirty="0"/>
              <a:t>Sprint Backlog:</a:t>
            </a:r>
            <a:endParaRPr lang="en-US" dirty="0"/>
          </a:p>
          <a:p>
            <a:pPr lvl="1"/>
            <a:r>
              <a:rPr lang="en-US" dirty="0"/>
              <a:t>Subset of Product Backlog items chosen for a specific Sprint.</a:t>
            </a:r>
          </a:p>
          <a:p>
            <a:pPr lvl="1"/>
            <a:r>
              <a:rPr lang="en-US" dirty="0"/>
              <a:t>Owned by the Development Team.</a:t>
            </a:r>
          </a:p>
          <a:p>
            <a:r>
              <a:rPr lang="en-US" b="1" dirty="0"/>
              <a:t>Increment:</a:t>
            </a:r>
            <a:endParaRPr lang="en-US" dirty="0"/>
          </a:p>
          <a:p>
            <a:pPr lvl="1"/>
            <a:r>
              <a:rPr lang="en-US" dirty="0"/>
              <a:t>The working, potentially shippable product at the end of the Sprint.</a:t>
            </a:r>
          </a:p>
          <a:p>
            <a:pPr lvl="1"/>
            <a:r>
              <a:rPr lang="en-US" dirty="0"/>
              <a:t>Must meet the </a:t>
            </a:r>
            <a:r>
              <a:rPr lang="en-US" b="1" dirty="0"/>
              <a:t>Definition of Done (DoD)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44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5615-210D-4383-A6AD-C7032DF9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F715-E3E6-48D0-B16B-3BD64EB6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Deliver </a:t>
            </a:r>
            <a:r>
              <a:rPr lang="en-US" b="1" dirty="0"/>
              <a:t>working software frequently</a:t>
            </a:r>
            <a:r>
              <a:rPr lang="en-US" dirty="0"/>
              <a:t>.</a:t>
            </a:r>
          </a:p>
          <a:p>
            <a:r>
              <a:rPr lang="en-US" dirty="0"/>
              <a:t>Enable </a:t>
            </a:r>
            <a:r>
              <a:rPr lang="en-US" b="1" dirty="0"/>
              <a:t>collaboration</a:t>
            </a:r>
            <a:r>
              <a:rPr lang="en-US" dirty="0"/>
              <a:t> and </a:t>
            </a:r>
            <a:r>
              <a:rPr lang="en-US" b="1" dirty="0"/>
              <a:t>transparency</a:t>
            </a:r>
            <a:r>
              <a:rPr lang="en-US" dirty="0"/>
              <a:t>.</a:t>
            </a:r>
          </a:p>
          <a:p>
            <a:r>
              <a:rPr lang="en-US" dirty="0"/>
              <a:t>Emphasize </a:t>
            </a:r>
            <a:r>
              <a:rPr lang="en-US" b="1" dirty="0"/>
              <a:t>customer satisfaction</a:t>
            </a:r>
            <a:r>
              <a:rPr lang="en-US" dirty="0"/>
              <a:t>.</a:t>
            </a:r>
          </a:p>
          <a:p>
            <a:r>
              <a:rPr lang="en-US" dirty="0"/>
              <a:t>Encourage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dirty="0"/>
              <a:t>Respond quickly to </a:t>
            </a:r>
            <a:r>
              <a:rPr lang="en-US" b="1" dirty="0"/>
              <a:t>change</a:t>
            </a:r>
            <a:r>
              <a:rPr lang="en-US" dirty="0"/>
              <a:t>.</a:t>
            </a:r>
          </a:p>
          <a:p>
            <a:r>
              <a:rPr lang="en-US" dirty="0"/>
              <a:t>Foster </a:t>
            </a:r>
            <a:r>
              <a:rPr lang="en-US" b="1" dirty="0"/>
              <a:t>self-organization</a:t>
            </a:r>
            <a:r>
              <a:rPr lang="en-US" dirty="0"/>
              <a:t> and </a:t>
            </a:r>
            <a:r>
              <a:rPr lang="en-US" b="1" dirty="0"/>
              <a:t>accountability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713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1341-F52D-4AD8-84A0-D8A3A1E2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Metrics &amp;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9D62-469D-4CE0-94E3-B5247600B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1. Velocity:</a:t>
            </a:r>
            <a:endParaRPr lang="en-US" dirty="0"/>
          </a:p>
          <a:p>
            <a:pPr lvl="1"/>
            <a:r>
              <a:rPr lang="en-US" dirty="0"/>
              <a:t>Measures work completed in a Sprint.</a:t>
            </a:r>
          </a:p>
          <a:p>
            <a:pPr lvl="1"/>
            <a:r>
              <a:rPr lang="en-US" dirty="0"/>
              <a:t>Helps in future Sprint planning.</a:t>
            </a:r>
          </a:p>
          <a:p>
            <a:r>
              <a:rPr lang="en-US" b="1" dirty="0"/>
              <a:t>2. Sprint Burndown Chart:</a:t>
            </a:r>
            <a:endParaRPr lang="en-US" dirty="0"/>
          </a:p>
          <a:p>
            <a:pPr lvl="1"/>
            <a:r>
              <a:rPr lang="en-US" dirty="0"/>
              <a:t>Tracks remaining work vs. time.</a:t>
            </a:r>
          </a:p>
          <a:p>
            <a:pPr lvl="1"/>
            <a:r>
              <a:rPr lang="en-US" dirty="0"/>
              <a:t>Visual representation of progress toward Sprint Goal.</a:t>
            </a:r>
          </a:p>
          <a:p>
            <a:r>
              <a:rPr lang="en-US" b="1" dirty="0"/>
              <a:t>3. Release Burndown Chart:</a:t>
            </a:r>
            <a:endParaRPr lang="en-US" dirty="0"/>
          </a:p>
          <a:p>
            <a:pPr lvl="1"/>
            <a:r>
              <a:rPr lang="en-US" dirty="0"/>
              <a:t>Tracks progress across multiple Sprints toward a release.</a:t>
            </a:r>
          </a:p>
          <a:p>
            <a:r>
              <a:rPr lang="en-US" b="1" dirty="0"/>
              <a:t>4. Lead Time &amp; Cycle Time:</a:t>
            </a:r>
            <a:endParaRPr lang="en-US" dirty="0"/>
          </a:p>
          <a:p>
            <a:pPr lvl="1"/>
            <a:r>
              <a:rPr lang="en-US" dirty="0"/>
              <a:t>Lead Time: Time from request to delivery.</a:t>
            </a:r>
          </a:p>
          <a:p>
            <a:pPr lvl="1"/>
            <a:r>
              <a:rPr lang="en-US" dirty="0"/>
              <a:t>Cycle Time: Time from starting work to delivery.</a:t>
            </a:r>
          </a:p>
          <a:p>
            <a:r>
              <a:rPr lang="en-US" b="1" dirty="0"/>
              <a:t>5. Cumulative Flow Diagram (CFD):</a:t>
            </a:r>
            <a:endParaRPr lang="en-US" dirty="0"/>
          </a:p>
          <a:p>
            <a:pPr lvl="1"/>
            <a:r>
              <a:rPr lang="en-US" dirty="0"/>
              <a:t>Visualizes workflow stability and bottlenecks.</a:t>
            </a:r>
          </a:p>
          <a:p>
            <a:r>
              <a:rPr lang="en-US" b="1" dirty="0"/>
              <a:t>6. Escaped Defects:</a:t>
            </a:r>
            <a:endParaRPr lang="en-US" dirty="0"/>
          </a:p>
          <a:p>
            <a:pPr lvl="1"/>
            <a:r>
              <a:rPr lang="en-US" dirty="0"/>
              <a:t>Measures defects found after release.</a:t>
            </a:r>
          </a:p>
          <a:p>
            <a:r>
              <a:rPr lang="en-US" b="1" dirty="0"/>
              <a:t>7. Team Happiness / Satisfaction Index:</a:t>
            </a:r>
            <a:endParaRPr lang="en-US" dirty="0"/>
          </a:p>
          <a:p>
            <a:pPr lvl="1"/>
            <a:r>
              <a:rPr lang="en-US" dirty="0"/>
              <a:t>Gauges morale and engagement.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08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D4B0-4414-4497-B25F-E98CD4A4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7ECA-188D-4E63-A6CF-DD981FF55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Concept</a:t>
            </a:r>
            <a:r>
              <a:rPr lang="en-US" dirty="0"/>
              <a:t> – Identify need, feasibility.</a:t>
            </a:r>
          </a:p>
          <a:p>
            <a:r>
              <a:rPr lang="en-US" b="1" dirty="0"/>
              <a:t>Inception</a:t>
            </a:r>
            <a:r>
              <a:rPr lang="en-US" dirty="0"/>
              <a:t> – Build initial team, define vision.</a:t>
            </a:r>
          </a:p>
          <a:p>
            <a:r>
              <a:rPr lang="en-US" b="1" dirty="0"/>
              <a:t>Iteration / Construction</a:t>
            </a:r>
            <a:r>
              <a:rPr lang="en-US" dirty="0"/>
              <a:t> – Develop product incrementally.</a:t>
            </a:r>
          </a:p>
          <a:p>
            <a:r>
              <a:rPr lang="en-US" b="1" dirty="0"/>
              <a:t>Release</a:t>
            </a:r>
            <a:r>
              <a:rPr lang="en-US" dirty="0"/>
              <a:t> – Deliver working product to customer.</a:t>
            </a:r>
          </a:p>
          <a:p>
            <a:r>
              <a:rPr lang="en-US" b="1" dirty="0"/>
              <a:t>Maintenance</a:t>
            </a:r>
            <a:r>
              <a:rPr lang="en-US" dirty="0"/>
              <a:t> – Support and enhance product.</a:t>
            </a:r>
          </a:p>
          <a:p>
            <a:r>
              <a:rPr lang="en-US" b="1" dirty="0"/>
              <a:t>Retirement</a:t>
            </a:r>
            <a:r>
              <a:rPr lang="en-US" dirty="0"/>
              <a:t> – End-of-life phase when product is no longer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0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068C-07B6-498D-8708-672A2B69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Agile/Scrum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4301-6CA5-41F3-9ADB-347B53F65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Faster time to market.</a:t>
            </a:r>
          </a:p>
          <a:p>
            <a:r>
              <a:rPr lang="en-US" dirty="0"/>
              <a:t>Better product quality.</a:t>
            </a:r>
          </a:p>
          <a:p>
            <a:r>
              <a:rPr lang="en-US" dirty="0"/>
              <a:t>High customer involvement.</a:t>
            </a:r>
          </a:p>
          <a:p>
            <a:r>
              <a:rPr lang="en-US" dirty="0"/>
              <a:t>Improved team morale and ownership.</a:t>
            </a:r>
          </a:p>
          <a:p>
            <a:r>
              <a:rPr lang="en-US" dirty="0"/>
              <a:t>Flexibility to adapt to change.</a:t>
            </a:r>
          </a:p>
          <a:p>
            <a:r>
              <a:rPr lang="en-US" dirty="0"/>
              <a:t>Continuous feedback and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038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B46A-B454-4064-8FE7-2B8B55EF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9049-CA59-4427-A015-29484181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Resistance to change.</a:t>
            </a:r>
          </a:p>
          <a:p>
            <a:r>
              <a:rPr lang="en-US" dirty="0"/>
              <a:t>Lack of management support.</a:t>
            </a:r>
          </a:p>
          <a:p>
            <a:r>
              <a:rPr lang="en-US" dirty="0"/>
              <a:t>Poor backlog management.</a:t>
            </a:r>
          </a:p>
          <a:p>
            <a:r>
              <a:rPr lang="en-US" dirty="0"/>
              <a:t>Inadequate team collaboration.</a:t>
            </a:r>
          </a:p>
          <a:p>
            <a:r>
              <a:rPr lang="en-US" dirty="0"/>
              <a:t>Misunderstanding of Agile principles.</a:t>
            </a:r>
          </a:p>
          <a:p>
            <a:r>
              <a:rPr lang="en-US" dirty="0"/>
              <a:t>Over-commitment during Sprints.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36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DD5D11-8369-4C68-BE87-57390F96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28" y="802077"/>
            <a:ext cx="9545391" cy="50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33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4C0C-036A-2C9D-D1EA-15A7BD3A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E1ED-6A12-C1DE-0BEB-C2B1F18E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Kanban is a </a:t>
            </a:r>
            <a:r>
              <a:rPr lang="en-US" b="1" dirty="0"/>
              <a:t>visual workflow management method</a:t>
            </a:r>
            <a:r>
              <a:rPr lang="en-US" dirty="0"/>
              <a:t> used to improve flow, reduce bottlenecks, and deliver work continuously.</a:t>
            </a:r>
          </a:p>
          <a:p>
            <a:r>
              <a:rPr lang="en-US" dirty="0"/>
              <a:t>It works on </a:t>
            </a:r>
            <a:r>
              <a:rPr lang="en-US" b="1" dirty="0"/>
              <a:t>three main ideas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Visualize the work</a:t>
            </a:r>
            <a:endParaRPr lang="en-US" dirty="0"/>
          </a:p>
          <a:p>
            <a:pPr lvl="1"/>
            <a:r>
              <a:rPr lang="en-US" b="1" dirty="0"/>
              <a:t>Limit work in progress (WIP)</a:t>
            </a:r>
            <a:endParaRPr lang="en-US" dirty="0"/>
          </a:p>
          <a:p>
            <a:pPr lvl="1"/>
            <a:r>
              <a:rPr lang="en-US" b="1" dirty="0"/>
              <a:t>Improve flow continuously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884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F456-28F6-9027-07D9-0AB99A66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07F0-273C-4561-292A-1787ACA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AD08-43FA-19CC-B117-87B4FE9D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 Kanban board usually has columns like:</a:t>
            </a:r>
          </a:p>
          <a:p>
            <a:pPr lvl="1"/>
            <a:r>
              <a:rPr lang="en-US" b="1" dirty="0"/>
              <a:t>To Do</a:t>
            </a:r>
            <a:endParaRPr lang="en-US" dirty="0"/>
          </a:p>
          <a:p>
            <a:pPr lvl="1"/>
            <a:r>
              <a:rPr lang="en-US" b="1" dirty="0"/>
              <a:t>In Progress</a:t>
            </a:r>
            <a:endParaRPr lang="en-US" dirty="0"/>
          </a:p>
          <a:p>
            <a:pPr lvl="1"/>
            <a:r>
              <a:rPr lang="en-US" b="1" dirty="0"/>
              <a:t>Review</a:t>
            </a:r>
            <a:endParaRPr lang="en-US" dirty="0"/>
          </a:p>
          <a:p>
            <a:pPr lvl="1"/>
            <a:r>
              <a:rPr lang="en-US" b="1" dirty="0"/>
              <a:t>Done</a:t>
            </a:r>
            <a:endParaRPr lang="en-US" dirty="0"/>
          </a:p>
          <a:p>
            <a:r>
              <a:rPr lang="en-US" dirty="0"/>
              <a:t>Teams place work items on cards and move them across the board as work progresses.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A QA team has a Kanban board:</a:t>
            </a:r>
          </a:p>
          <a:p>
            <a:pPr lvl="1"/>
            <a:r>
              <a:rPr lang="en-US" dirty="0"/>
              <a:t>A bug card is placed in </a:t>
            </a:r>
            <a:r>
              <a:rPr lang="en-US" b="1" dirty="0"/>
              <a:t>To Do</a:t>
            </a:r>
          </a:p>
          <a:p>
            <a:pPr lvl="1"/>
            <a:r>
              <a:rPr lang="en-US" dirty="0"/>
              <a:t>When a developer starts fixing it → moved to </a:t>
            </a:r>
            <a:r>
              <a:rPr lang="en-US" b="1" dirty="0"/>
              <a:t>In Progress</a:t>
            </a:r>
          </a:p>
          <a:p>
            <a:pPr lvl="1"/>
            <a:r>
              <a:rPr lang="en-US" dirty="0"/>
              <a:t>When QA tests it → moved to </a:t>
            </a:r>
            <a:r>
              <a:rPr lang="en-US" b="1" dirty="0"/>
              <a:t>Testing</a:t>
            </a:r>
          </a:p>
          <a:p>
            <a:pPr lvl="1"/>
            <a:r>
              <a:rPr lang="en-US" dirty="0"/>
              <a:t>After verification → moved to </a:t>
            </a:r>
            <a:r>
              <a:rPr lang="en-US" b="1" dirty="0"/>
              <a:t>Done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45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C729-0832-8AF1-CD13-0A8F3752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A37C-4B79-5580-7F4B-673DFE94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Working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B1AB-D695-22E2-CAF8-B87697076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Limit Work in Progress (WIP Limits)</a:t>
            </a:r>
          </a:p>
          <a:p>
            <a:r>
              <a:rPr lang="en-US" dirty="0"/>
              <a:t>Kanban sets </a:t>
            </a:r>
            <a:r>
              <a:rPr lang="en-US" b="1" dirty="0"/>
              <a:t>maximum items allowed in each column</a:t>
            </a:r>
            <a:r>
              <a:rPr lang="en-US" dirty="0"/>
              <a:t> to avoid overload and bottlenecks.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In Progress</a:t>
            </a:r>
            <a:r>
              <a:rPr lang="en-US" dirty="0"/>
              <a:t> has a WIP limit of 3:</a:t>
            </a:r>
          </a:p>
          <a:p>
            <a:pPr lvl="1"/>
            <a:r>
              <a:rPr lang="en-US" dirty="0"/>
              <a:t>The team cannot start new jobs until one of the 3 moves forward.</a:t>
            </a:r>
          </a:p>
          <a:p>
            <a:pPr lvl="1"/>
            <a:r>
              <a:rPr lang="en-US" dirty="0"/>
              <a:t>This ensures </a:t>
            </a:r>
            <a:r>
              <a:rPr lang="en-US" b="1" dirty="0"/>
              <a:t>focus</a:t>
            </a:r>
            <a:r>
              <a:rPr lang="en-US" dirty="0"/>
              <a:t>, </a:t>
            </a:r>
            <a:r>
              <a:rPr lang="en-US" b="1" dirty="0"/>
              <a:t>quality</a:t>
            </a:r>
            <a:r>
              <a:rPr lang="en-US" dirty="0"/>
              <a:t>, and </a:t>
            </a:r>
            <a:r>
              <a:rPr lang="en-US" b="1" dirty="0"/>
              <a:t>faster delivery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Manage and Improve Flow</a:t>
            </a:r>
          </a:p>
          <a:p>
            <a:r>
              <a:rPr lang="en-US" dirty="0"/>
              <a:t>Teams monitor cycle time (how long work takes), identify bottlenecks, and continuously improve the flow.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If many items pile up in the </a:t>
            </a:r>
            <a:r>
              <a:rPr lang="en-US" b="1" dirty="0"/>
              <a:t>Testing</a:t>
            </a:r>
            <a:r>
              <a:rPr lang="en-US" dirty="0"/>
              <a:t> column:</a:t>
            </a:r>
          </a:p>
          <a:p>
            <a:pPr lvl="1"/>
            <a:r>
              <a:rPr lang="en-US" dirty="0"/>
              <a:t>It signals a bottleneck.</a:t>
            </a:r>
          </a:p>
          <a:p>
            <a:pPr lvl="1"/>
            <a:r>
              <a:rPr lang="en-US" dirty="0"/>
              <a:t>The team may assign more testers or simplify test steps.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26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54B0-C58D-F439-5144-C311FDC9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Kanban?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0E55-C428-366F-5594-5EB2226FE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Support teams</a:t>
            </a:r>
          </a:p>
          <a:p>
            <a:r>
              <a:rPr lang="en-US" dirty="0"/>
              <a:t>QA teams working on daily bug fixes</a:t>
            </a:r>
          </a:p>
          <a:p>
            <a:r>
              <a:rPr lang="en-US" dirty="0"/>
              <a:t>Operations / DevOps teams</a:t>
            </a:r>
          </a:p>
          <a:p>
            <a:r>
              <a:rPr lang="en-US" dirty="0"/>
              <a:t>Any team needing </a:t>
            </a:r>
            <a:r>
              <a:rPr lang="en-US" b="1" dirty="0"/>
              <a:t>continuous delivery</a:t>
            </a:r>
            <a:r>
              <a:rPr lang="en-US" dirty="0"/>
              <a:t> instead of sprints</a:t>
            </a:r>
          </a:p>
          <a:p>
            <a:r>
              <a:rPr lang="en-US" b="1" dirty="0"/>
              <a:t>Short Summary</a:t>
            </a:r>
          </a:p>
          <a:p>
            <a:r>
              <a:rPr lang="en-US" b="1" dirty="0"/>
              <a:t>Kanban = Visual Board + WIP Limits + Continuous Flow</a:t>
            </a:r>
            <a:endParaRPr lang="en-US" dirty="0"/>
          </a:p>
          <a:p>
            <a:pPr lvl="1"/>
            <a:r>
              <a:rPr lang="en-US" dirty="0"/>
              <a:t>Shows work clearly</a:t>
            </a:r>
          </a:p>
          <a:p>
            <a:pPr lvl="1"/>
            <a:r>
              <a:rPr lang="en-US" dirty="0"/>
              <a:t>Prevents overload</a:t>
            </a:r>
          </a:p>
          <a:p>
            <a:pPr lvl="1"/>
            <a:r>
              <a:rPr lang="en-US" dirty="0"/>
              <a:t>Improves delivery speed and quality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A development team moves tasks from </a:t>
            </a:r>
            <a:r>
              <a:rPr lang="en-US" i="1" dirty="0"/>
              <a:t>To Do → In Progress → Code Review → Testing → Done</a:t>
            </a:r>
            <a:r>
              <a:rPr lang="en-US" dirty="0"/>
              <a:t>, with limits to ensure smooth 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89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1A93-13A9-40C1-8436-29947875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C4F1-E1F1-4992-BFDB-924C9012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Kanban</a:t>
            </a:r>
            <a:r>
              <a:rPr lang="en-US" dirty="0"/>
              <a:t> is a </a:t>
            </a:r>
            <a:r>
              <a:rPr lang="en-US" b="1" dirty="0"/>
              <a:t>visual workflow management method</a:t>
            </a:r>
            <a:r>
              <a:rPr lang="en-US" dirty="0"/>
              <a:t> used to manage work efficiently through continuous delivery.</a:t>
            </a:r>
          </a:p>
          <a:p>
            <a:r>
              <a:rPr lang="en-US" dirty="0"/>
              <a:t>The word </a:t>
            </a:r>
            <a:r>
              <a:rPr lang="en-US" b="1" dirty="0"/>
              <a:t>“Kanban”</a:t>
            </a:r>
            <a:r>
              <a:rPr lang="en-US" dirty="0"/>
              <a:t> is Japanese and means </a:t>
            </a:r>
            <a:r>
              <a:rPr lang="en-US" b="1" dirty="0"/>
              <a:t>“visual card”</a:t>
            </a:r>
            <a:r>
              <a:rPr lang="en-US" dirty="0"/>
              <a:t> or </a:t>
            </a:r>
            <a:r>
              <a:rPr lang="en-US" b="1" dirty="0"/>
              <a:t>“signal card”</a:t>
            </a:r>
            <a:r>
              <a:rPr lang="en-US" dirty="0"/>
              <a:t>.</a:t>
            </a:r>
          </a:p>
          <a:p>
            <a:r>
              <a:rPr lang="en-US" dirty="0"/>
              <a:t>It originated from </a:t>
            </a:r>
            <a:r>
              <a:rPr lang="en-US" b="1" dirty="0"/>
              <a:t>Toyota’s manufacturing system</a:t>
            </a:r>
            <a:r>
              <a:rPr lang="en-US" dirty="0"/>
              <a:t> in the 1940s, used for </a:t>
            </a:r>
            <a:r>
              <a:rPr lang="en-US" b="1" dirty="0"/>
              <a:t>Lean production</a:t>
            </a:r>
            <a:r>
              <a:rPr lang="en-US" dirty="0"/>
              <a:t>.</a:t>
            </a:r>
          </a:p>
          <a:p>
            <a:r>
              <a:rPr lang="en-US" dirty="0"/>
              <a:t>In Agile, Kanban helps teams </a:t>
            </a:r>
            <a:r>
              <a:rPr lang="en-US" b="1" dirty="0"/>
              <a:t>visualize work</a:t>
            </a:r>
            <a:r>
              <a:rPr lang="en-US" dirty="0"/>
              <a:t>, </a:t>
            </a:r>
            <a:r>
              <a:rPr lang="en-US" b="1" dirty="0"/>
              <a:t>limit work in progress (WIP)</a:t>
            </a:r>
            <a:r>
              <a:rPr lang="en-US" dirty="0"/>
              <a:t>, and </a:t>
            </a:r>
            <a:r>
              <a:rPr lang="en-US" b="1" dirty="0"/>
              <a:t>improve flow</a:t>
            </a:r>
            <a:r>
              <a:rPr lang="en-US" dirty="0"/>
              <a:t>.</a:t>
            </a:r>
          </a:p>
          <a:p>
            <a:r>
              <a:rPr lang="en-US" dirty="0"/>
              <a:t>Unlike Scrum, Kanban does </a:t>
            </a:r>
            <a:r>
              <a:rPr lang="en-US" b="1" dirty="0"/>
              <a:t>not have time-boxed iterations</a:t>
            </a:r>
            <a:r>
              <a:rPr lang="en-US" dirty="0"/>
              <a:t> (no Sprints). Work flows </a:t>
            </a:r>
            <a:r>
              <a:rPr lang="en-US" b="1" dirty="0"/>
              <a:t>continuously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630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744C-5134-42B4-992F-9D10927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3D93-04FC-4598-8FD0-EE1FAF35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Kanban is built on </a:t>
            </a:r>
            <a:r>
              <a:rPr lang="en-US" b="1" dirty="0"/>
              <a:t>two main principles</a:t>
            </a:r>
            <a:r>
              <a:rPr lang="en-US" dirty="0"/>
              <a:t> and </a:t>
            </a:r>
            <a:r>
              <a:rPr lang="en-US" b="1" dirty="0"/>
              <a:t>six core practices</a:t>
            </a:r>
            <a:r>
              <a:rPr lang="en-US" dirty="0"/>
              <a:t>.</a:t>
            </a:r>
          </a:p>
          <a:p>
            <a:r>
              <a:rPr lang="en-US" b="1" dirty="0"/>
              <a:t>Principles</a:t>
            </a:r>
          </a:p>
          <a:p>
            <a:pPr lvl="1"/>
            <a:r>
              <a:rPr lang="en-US" b="1" dirty="0"/>
              <a:t>Start with what you do now</a:t>
            </a:r>
            <a:endParaRPr lang="en-US" dirty="0"/>
          </a:p>
          <a:p>
            <a:pPr lvl="2"/>
            <a:r>
              <a:rPr lang="en-US" dirty="0"/>
              <a:t>No need to change your existing process immediately.</a:t>
            </a:r>
          </a:p>
          <a:p>
            <a:pPr lvl="2"/>
            <a:r>
              <a:rPr lang="en-US" dirty="0"/>
              <a:t>Kanban evolves gradually.</a:t>
            </a:r>
          </a:p>
          <a:p>
            <a:pPr lvl="1"/>
            <a:r>
              <a:rPr lang="en-US" b="1" dirty="0"/>
              <a:t>Pursue incremental, evolutionary change</a:t>
            </a:r>
            <a:endParaRPr lang="en-US" dirty="0"/>
          </a:p>
          <a:p>
            <a:pPr lvl="2"/>
            <a:r>
              <a:rPr lang="en-US" dirty="0"/>
              <a:t>Encourage continuous, small improvements instead of radical change.</a:t>
            </a:r>
          </a:p>
          <a:p>
            <a:pPr lvl="1"/>
            <a:r>
              <a:rPr lang="en-US" b="1" dirty="0"/>
              <a:t>Respect current roles and responsibilities</a:t>
            </a:r>
            <a:endParaRPr lang="en-US" dirty="0"/>
          </a:p>
          <a:p>
            <a:pPr lvl="2"/>
            <a:r>
              <a:rPr lang="en-US" dirty="0"/>
              <a:t>Kanban doesn’t mandate new roles or titles like Scrum does.</a:t>
            </a:r>
          </a:p>
          <a:p>
            <a:pPr lvl="1"/>
            <a:r>
              <a:rPr lang="en-US" b="1" dirty="0"/>
              <a:t>Encourage acts of leadership at all levels</a:t>
            </a:r>
            <a:endParaRPr lang="en-US" dirty="0"/>
          </a:p>
          <a:p>
            <a:pPr lvl="2"/>
            <a:r>
              <a:rPr lang="en-US" dirty="0"/>
              <a:t>Everyone contributes to process improvement — not just managers.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938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Visualize the Workflow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Kanban Board</a:t>
            </a:r>
            <a:r>
              <a:rPr lang="en-US" dirty="0"/>
              <a:t> to show tasks and their progress.</a:t>
            </a:r>
          </a:p>
          <a:p>
            <a:pPr lvl="1"/>
            <a:r>
              <a:rPr lang="en-US" dirty="0"/>
              <a:t>Example board columns:</a:t>
            </a:r>
          </a:p>
          <a:p>
            <a:pPr lvl="2"/>
            <a:r>
              <a:rPr lang="en-US" b="1" dirty="0"/>
              <a:t>To Do → In Progress → Testing → Done</a:t>
            </a:r>
            <a:endParaRPr lang="en-US" dirty="0"/>
          </a:p>
          <a:p>
            <a:pPr lvl="1"/>
            <a:r>
              <a:rPr lang="en-US" dirty="0"/>
              <a:t>Each task is represented by a </a:t>
            </a:r>
            <a:r>
              <a:rPr lang="en-US" b="1" dirty="0"/>
              <a:t>card</a:t>
            </a:r>
            <a:r>
              <a:rPr lang="en-US" dirty="0"/>
              <a:t> (physical or digital).</a:t>
            </a:r>
          </a:p>
          <a:p>
            <a:r>
              <a:rPr lang="en-US" b="1" dirty="0"/>
              <a:t>2. Limit Work in Progress (WIP)</a:t>
            </a:r>
          </a:p>
          <a:p>
            <a:pPr lvl="1"/>
            <a:r>
              <a:rPr lang="en-US" dirty="0"/>
              <a:t>Restrict the number of tasks allowed in each stage.</a:t>
            </a:r>
          </a:p>
          <a:p>
            <a:pPr lvl="1"/>
            <a:r>
              <a:rPr lang="en-US" dirty="0"/>
              <a:t>Prevents overloading and ensures focus on finishing work.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“In Progress” column can have </a:t>
            </a:r>
            <a:r>
              <a:rPr lang="en-US" b="1" dirty="0"/>
              <a:t>only 3 tasks</a:t>
            </a:r>
            <a:r>
              <a:rPr lang="en-US" dirty="0"/>
              <a:t> at a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602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Manage Flow</a:t>
            </a:r>
          </a:p>
          <a:p>
            <a:pPr lvl="1"/>
            <a:r>
              <a:rPr lang="en-US" dirty="0"/>
              <a:t>Monitor how work moves across the board.</a:t>
            </a:r>
          </a:p>
          <a:p>
            <a:pPr lvl="1"/>
            <a:r>
              <a:rPr lang="en-US" dirty="0"/>
              <a:t>Identify and remove bottlenecks.</a:t>
            </a:r>
          </a:p>
          <a:p>
            <a:pPr lvl="1"/>
            <a:r>
              <a:rPr lang="en-US" dirty="0"/>
              <a:t>Goal: achieve </a:t>
            </a:r>
            <a:r>
              <a:rPr lang="en-US" b="1" dirty="0"/>
              <a:t>smooth, predictable flow</a:t>
            </a:r>
            <a:r>
              <a:rPr lang="en-US" dirty="0"/>
              <a:t>.</a:t>
            </a:r>
          </a:p>
          <a:p>
            <a:r>
              <a:rPr lang="en-US" b="1" dirty="0"/>
              <a:t>4. Make Process Policies Explicit</a:t>
            </a:r>
          </a:p>
          <a:p>
            <a:pPr lvl="1"/>
            <a:r>
              <a:rPr lang="en-US" dirty="0"/>
              <a:t>Define clear rules for moving tasks between stages.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“A task can move to Testing only after peer review is done.”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50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A34D-4D7A-4423-9DDE-D9A282FD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Practices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1F6F-BDCD-4584-B71B-9A845638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Implement Feedback Loops</a:t>
            </a:r>
          </a:p>
          <a:p>
            <a:pPr lvl="1"/>
            <a:r>
              <a:rPr lang="en-US" dirty="0"/>
              <a:t>Hold regular reviews or stand-up meetings to assess flow.</a:t>
            </a:r>
          </a:p>
          <a:p>
            <a:pPr lvl="1"/>
            <a:r>
              <a:rPr lang="en-US" dirty="0"/>
              <a:t>Example meetings:</a:t>
            </a:r>
          </a:p>
          <a:p>
            <a:pPr lvl="2"/>
            <a:r>
              <a:rPr lang="en-US" dirty="0"/>
              <a:t>Daily stand-ups, Operations review, Service delivery review.</a:t>
            </a:r>
          </a:p>
          <a:p>
            <a:r>
              <a:rPr lang="en-US" b="1" dirty="0"/>
              <a:t>6. Improve Collaboratively &amp; Evolve Experimentally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data and metrics</a:t>
            </a:r>
            <a:r>
              <a:rPr lang="en-US" dirty="0"/>
              <a:t> to identify improvements.</a:t>
            </a:r>
          </a:p>
          <a:p>
            <a:pPr lvl="1"/>
            <a:r>
              <a:rPr lang="en-US" dirty="0"/>
              <a:t>Encourage the team to experiment and adapt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02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7B54-10CD-4357-9A87-85415D12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7" y="904494"/>
            <a:ext cx="9601196" cy="1303867"/>
          </a:xfrm>
        </p:spPr>
        <p:txBody>
          <a:bodyPr/>
          <a:lstStyle/>
          <a:p>
            <a:r>
              <a:rPr lang="en-US" dirty="0"/>
              <a:t>Kanban vs Scrum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E2CC63-315C-41C2-832A-DDE65F63D8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936240"/>
          <a:ext cx="960120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389024193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26945927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339702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Kanban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Scrum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3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Iterations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Time-boxed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994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fixed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Scrum Master, PO,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8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Work Commitments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Pull-based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Sprint-based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7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Change During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Allowed anytime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allowed during 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590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Lead/Cycle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Velocity, Burndown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103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WIP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(by Sprint capacity)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12934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56B6187-840B-4019-8BD8-7F6993EF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Kanban vs Scrum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Scrum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 suits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operational, support, or maintenance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Scrum suits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feature-based or product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467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A095-9DDF-4024-96A8-7D5EF734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Metrics and Flow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4EFB-7A0C-4AB2-BD48-999B5E85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Lead Time</a:t>
            </a:r>
          </a:p>
          <a:p>
            <a:pPr lvl="1"/>
            <a:r>
              <a:rPr lang="en-US" dirty="0"/>
              <a:t>Time taken from when a request is made to when it’s delivered.</a:t>
            </a:r>
          </a:p>
          <a:p>
            <a:pPr lvl="1"/>
            <a:r>
              <a:rPr lang="en-US" dirty="0"/>
              <a:t>Example: Customer requests a feature on Monday, delivered on Friday → </a:t>
            </a:r>
            <a:r>
              <a:rPr lang="en-US" b="1" dirty="0"/>
              <a:t>Lead time = 5 days.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Cycle Time</a:t>
            </a:r>
          </a:p>
          <a:p>
            <a:pPr lvl="1"/>
            <a:r>
              <a:rPr lang="en-US" dirty="0"/>
              <a:t>Time taken from when work starts to when it’s completed.</a:t>
            </a:r>
          </a:p>
          <a:p>
            <a:pPr lvl="1"/>
            <a:r>
              <a:rPr lang="en-US" dirty="0"/>
              <a:t>Example: Work started on Tuesday, finished on Friday → </a:t>
            </a:r>
            <a:r>
              <a:rPr lang="en-US" b="1" dirty="0"/>
              <a:t>Cycle time = 4 days.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Throughput</a:t>
            </a:r>
          </a:p>
          <a:p>
            <a:pPr lvl="1"/>
            <a:r>
              <a:rPr lang="en-US" dirty="0"/>
              <a:t>Number of work items completed per time period.</a:t>
            </a:r>
          </a:p>
          <a:p>
            <a:pPr lvl="1"/>
            <a:r>
              <a:rPr lang="en-US" dirty="0"/>
              <a:t>Example: “Team completed 15 tasks last week.”</a:t>
            </a:r>
          </a:p>
          <a:p>
            <a:pPr marL="0" indent="0">
              <a:buNone/>
            </a:pPr>
            <a:r>
              <a:rPr lang="en-US" b="1" dirty="0"/>
              <a:t>Cumulative Flow Diagram (CFD)</a:t>
            </a:r>
          </a:p>
          <a:p>
            <a:pPr lvl="1"/>
            <a:r>
              <a:rPr lang="en-US" dirty="0"/>
              <a:t>Graph showing number of tasks in each state over time.</a:t>
            </a:r>
          </a:p>
          <a:p>
            <a:pPr lvl="1"/>
            <a:r>
              <a:rPr lang="en-US" dirty="0"/>
              <a:t>Helps visualize WIP, predictability, and bottlenecks.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071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B392-F2BD-4F43-9F46-A2A79255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079E-E465-4A64-913F-915B0E3B1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Visual clarity of workflow</a:t>
            </a:r>
          </a:p>
          <a:p>
            <a:r>
              <a:rPr lang="en-US" dirty="0"/>
              <a:t>Flexibility – changes can be made anytime</a:t>
            </a:r>
          </a:p>
          <a:p>
            <a:r>
              <a:rPr lang="en-US" dirty="0"/>
              <a:t>Continuous delivery, no waiting for end of sprint</a:t>
            </a:r>
          </a:p>
          <a:p>
            <a:r>
              <a:rPr lang="en-US" dirty="0"/>
              <a:t>Reduces waste and bottlenecks</a:t>
            </a:r>
          </a:p>
          <a:p>
            <a:r>
              <a:rPr lang="en-US" dirty="0"/>
              <a:t>Focus on finishing work (not starting too many)</a:t>
            </a:r>
          </a:p>
          <a:p>
            <a:r>
              <a:rPr lang="en-US" dirty="0"/>
              <a:t>Data-driven improvement (using metrics like Lead Time)</a:t>
            </a:r>
          </a:p>
          <a:p>
            <a:r>
              <a:rPr lang="en-US" dirty="0"/>
              <a:t>Easy to adopt without changing existing roles/processes</a:t>
            </a:r>
          </a:p>
        </p:txBody>
      </p:sp>
    </p:spTree>
    <p:extLst>
      <p:ext uri="{BB962C8B-B14F-4D97-AF65-F5344CB8AC3E}">
        <p14:creationId xmlns:p14="http://schemas.microsoft.com/office/powerpoint/2010/main" val="3769710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ECA6-C4AF-4487-9587-01280E80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FF932-3E5F-4CD6-B01A-A683C076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fixed deadlines → harder to predict release schedules</a:t>
            </a:r>
          </a:p>
          <a:p>
            <a:r>
              <a:rPr lang="en-US" dirty="0"/>
              <a:t>Requires team discipline to respect WIP limits</a:t>
            </a:r>
          </a:p>
          <a:p>
            <a:r>
              <a:rPr lang="en-US" dirty="0"/>
              <a:t>May lack structure for teams new to Agile</a:t>
            </a:r>
          </a:p>
          <a:p>
            <a:r>
              <a:rPr lang="en-US" dirty="0"/>
              <a:t>Risk of tasks stagnating in one column if flow is not managed</a:t>
            </a:r>
          </a:p>
          <a:p>
            <a:r>
              <a:rPr lang="en-US" dirty="0"/>
              <a:t>Continuous monitoring and collaboration needed</a:t>
            </a:r>
          </a:p>
        </p:txBody>
      </p:sp>
    </p:spTree>
    <p:extLst>
      <p:ext uri="{BB962C8B-B14F-4D97-AF65-F5344CB8AC3E}">
        <p14:creationId xmlns:p14="http://schemas.microsoft.com/office/powerpoint/2010/main" val="1810975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D870-F796-4F6B-B21C-D0C720C6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9A2C-A3F8-4EC4-B3D3-969E4BFA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work is </a:t>
            </a:r>
            <a:r>
              <a:rPr lang="en-US" b="1" dirty="0"/>
              <a:t>continuous</a:t>
            </a:r>
            <a:r>
              <a:rPr lang="en-US" dirty="0"/>
              <a:t> and </a:t>
            </a:r>
            <a:r>
              <a:rPr lang="en-US" b="1" dirty="0"/>
              <a:t>not time-boxed</a:t>
            </a:r>
            <a:r>
              <a:rPr lang="en-US" dirty="0"/>
              <a:t> (e.g., maintenance, support).</a:t>
            </a:r>
          </a:p>
          <a:p>
            <a:r>
              <a:rPr lang="en-US" dirty="0"/>
              <a:t>When priorities change frequently.</a:t>
            </a:r>
          </a:p>
          <a:p>
            <a:r>
              <a:rPr lang="en-US" dirty="0"/>
              <a:t>When the team needs </a:t>
            </a:r>
            <a:r>
              <a:rPr lang="en-US" b="1" dirty="0"/>
              <a:t>visual clarity</a:t>
            </a:r>
            <a:r>
              <a:rPr lang="en-US" dirty="0"/>
              <a:t> and </a:t>
            </a:r>
            <a:r>
              <a:rPr lang="en-US" b="1" dirty="0"/>
              <a:t>flow optimization</a:t>
            </a:r>
            <a:r>
              <a:rPr lang="en-US" dirty="0"/>
              <a:t>.</a:t>
            </a:r>
          </a:p>
          <a:p>
            <a:r>
              <a:rPr lang="en-US" dirty="0"/>
              <a:t>When the team prefers </a:t>
            </a:r>
            <a:r>
              <a:rPr lang="en-US" b="1" dirty="0"/>
              <a:t>evolutionary change</a:t>
            </a:r>
            <a:r>
              <a:rPr lang="en-US" dirty="0"/>
              <a:t> over strict frameworks.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IT Service Desk managing incident tickets.</a:t>
            </a:r>
          </a:p>
          <a:p>
            <a:pPr lvl="1"/>
            <a:r>
              <a:rPr lang="en-US" dirty="0"/>
              <a:t>QA Team tracking defects.</a:t>
            </a:r>
          </a:p>
          <a:p>
            <a:pPr lvl="1"/>
            <a:r>
              <a:rPr lang="en-US" dirty="0"/>
              <a:t>Marketing team managing campaign tasks.</a:t>
            </a:r>
          </a:p>
          <a:p>
            <a:pPr lvl="1"/>
            <a:r>
              <a:rPr lang="en-US" dirty="0"/>
              <a:t>DevOps team monitoring deployment requests.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87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7214-47D5-4911-8A06-EE856A93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(XP)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B025-E924-4A9C-957A-4F5CB973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XP (Extreme Programming)</a:t>
            </a:r>
            <a:r>
              <a:rPr lang="en-US" dirty="0"/>
              <a:t> is an </a:t>
            </a:r>
            <a:r>
              <a:rPr lang="en-US" b="1" dirty="0"/>
              <a:t>Agile software development framework</a:t>
            </a:r>
            <a:r>
              <a:rPr lang="en-US" dirty="0"/>
              <a:t> that emphasizes </a:t>
            </a:r>
            <a:r>
              <a:rPr lang="en-US" b="1" dirty="0"/>
              <a:t>technical excellence</a:t>
            </a:r>
            <a:r>
              <a:rPr lang="en-US" dirty="0"/>
              <a:t>, </a:t>
            </a:r>
            <a:r>
              <a:rPr lang="en-US" b="1" dirty="0"/>
              <a:t>continuous feedback</a:t>
            </a:r>
            <a:r>
              <a:rPr lang="en-US" dirty="0"/>
              <a:t>, and </a:t>
            </a:r>
            <a:r>
              <a:rPr lang="en-US" b="1" dirty="0"/>
              <a:t>high-quality code</a:t>
            </a:r>
            <a:r>
              <a:rPr lang="en-US" dirty="0"/>
              <a:t>.</a:t>
            </a:r>
          </a:p>
          <a:p>
            <a:r>
              <a:rPr lang="en-US" dirty="0"/>
              <a:t>Created by </a:t>
            </a:r>
            <a:r>
              <a:rPr lang="en-US" b="1" dirty="0"/>
              <a:t>Kent Beck</a:t>
            </a:r>
            <a:r>
              <a:rPr lang="en-US" dirty="0"/>
              <a:t> in the late 1990s.</a:t>
            </a:r>
          </a:p>
          <a:p>
            <a:r>
              <a:rPr lang="en-US" dirty="0"/>
              <a:t>Designed for environments with </a:t>
            </a:r>
            <a:r>
              <a:rPr lang="en-US" b="1" dirty="0"/>
              <a:t>frequent requirement changes</a:t>
            </a:r>
            <a:r>
              <a:rPr lang="en-US" dirty="0"/>
              <a:t> and </a:t>
            </a:r>
            <a:r>
              <a:rPr lang="en-US" b="1" dirty="0"/>
              <a:t>high technical risk</a:t>
            </a:r>
            <a:r>
              <a:rPr lang="en-US" dirty="0"/>
              <a:t>.</a:t>
            </a:r>
          </a:p>
          <a:p>
            <a:r>
              <a:rPr lang="en-US" dirty="0"/>
              <a:t>XP improves </a:t>
            </a:r>
            <a:r>
              <a:rPr lang="en-US" b="1" dirty="0"/>
              <a:t>software quality</a:t>
            </a:r>
            <a:r>
              <a:rPr lang="en-US" dirty="0"/>
              <a:t> and </a:t>
            </a:r>
            <a:r>
              <a:rPr lang="en-US" b="1" dirty="0"/>
              <a:t>responsiveness to changing requirements</a:t>
            </a:r>
            <a:r>
              <a:rPr lang="en-US" dirty="0"/>
              <a:t> through strong </a:t>
            </a:r>
            <a:r>
              <a:rPr lang="en-US" b="1" dirty="0"/>
              <a:t>engineering practices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8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64C6-E785-447D-9724-42D3AD40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Practices of XP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DC537-7FD8-414F-8ACB-B8F6813F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34" y="1135181"/>
            <a:ext cx="6835732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6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43B2-30F1-4421-B725-0D8379AA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E354-B9FB-4D1B-A66B-24A52421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Lean Agile</a:t>
            </a:r>
            <a:r>
              <a:rPr lang="en-US" dirty="0"/>
              <a:t> is a </a:t>
            </a:r>
            <a:r>
              <a:rPr lang="en-US" b="1" dirty="0"/>
              <a:t>mindset and framework</a:t>
            </a:r>
            <a:r>
              <a:rPr lang="en-US" dirty="0"/>
              <a:t> that combines </a:t>
            </a:r>
            <a:r>
              <a:rPr lang="en-US" b="1" dirty="0"/>
              <a:t>Lean principles</a:t>
            </a:r>
            <a:r>
              <a:rPr lang="en-US" dirty="0"/>
              <a:t> (from manufacturing) with </a:t>
            </a:r>
            <a:r>
              <a:rPr lang="en-US" b="1" dirty="0"/>
              <a:t>Agile values</a:t>
            </a:r>
            <a:r>
              <a:rPr lang="en-US" dirty="0"/>
              <a:t> (from software development).</a:t>
            </a:r>
          </a:p>
          <a:p>
            <a:r>
              <a:rPr lang="en-US" dirty="0"/>
              <a:t>Goal: </a:t>
            </a:r>
            <a:r>
              <a:rPr lang="en-US" b="1" dirty="0"/>
              <a:t>Deliver maximum value to customers</a:t>
            </a:r>
            <a:r>
              <a:rPr lang="en-US" dirty="0"/>
              <a:t> with </a:t>
            </a:r>
            <a:r>
              <a:rPr lang="en-US" b="1" dirty="0"/>
              <a:t>minimum waste</a:t>
            </a:r>
            <a:r>
              <a:rPr lang="en-US" dirty="0"/>
              <a:t> and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dirty="0"/>
              <a:t>Inspired by the </a:t>
            </a:r>
            <a:r>
              <a:rPr lang="en-US" b="1" dirty="0"/>
              <a:t>Toyota Production System (TPS)</a:t>
            </a:r>
            <a:r>
              <a:rPr lang="en-US" dirty="0"/>
              <a:t> — originally used in manufacturing, then adapted to software and IT.</a:t>
            </a:r>
          </a:p>
          <a:p>
            <a:r>
              <a:rPr lang="en-US" dirty="0"/>
              <a:t>In Lean Agile, the focus is on:</a:t>
            </a:r>
          </a:p>
          <a:p>
            <a:pPr lvl="1"/>
            <a:r>
              <a:rPr lang="en-US" b="1" dirty="0"/>
              <a:t>Value delivery</a:t>
            </a:r>
            <a:endParaRPr lang="en-US" dirty="0"/>
          </a:p>
          <a:p>
            <a:pPr lvl="1"/>
            <a:r>
              <a:rPr lang="en-US" b="1" dirty="0"/>
              <a:t>Efficiency</a:t>
            </a:r>
            <a:endParaRPr lang="en-US" dirty="0"/>
          </a:p>
          <a:p>
            <a:pPr lvl="1"/>
            <a:r>
              <a:rPr lang="en-US" b="1" dirty="0"/>
              <a:t>Empowered teams</a:t>
            </a:r>
            <a:endParaRPr lang="en-US" dirty="0"/>
          </a:p>
          <a:p>
            <a:pPr lvl="1"/>
            <a:r>
              <a:rPr lang="en-US" b="1" dirty="0"/>
              <a:t>Continuous flow of work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076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43B2-30F1-4421-B725-0D8379AA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Philosophy Behind Lean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E354-B9FB-4D1B-A66B-24A52421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Lean Agile focuses on </a:t>
            </a:r>
            <a:r>
              <a:rPr lang="en-US" b="1" dirty="0"/>
              <a:t>doing more with less</a:t>
            </a:r>
            <a:r>
              <a:rPr lang="en-US" dirty="0"/>
              <a:t>, by:</a:t>
            </a:r>
          </a:p>
          <a:p>
            <a:pPr lvl="1"/>
            <a:r>
              <a:rPr lang="en-US" dirty="0"/>
              <a:t>Understanding what the </a:t>
            </a:r>
            <a:r>
              <a:rPr lang="en-US" b="1" dirty="0"/>
              <a:t>customer values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Eliminating anything</a:t>
            </a:r>
            <a:r>
              <a:rPr lang="en-US" dirty="0"/>
              <a:t> that doesn’t contribute to that value.</a:t>
            </a:r>
          </a:p>
          <a:p>
            <a:pPr lvl="1"/>
            <a:r>
              <a:rPr lang="en-US" dirty="0"/>
              <a:t>Encouraging </a:t>
            </a:r>
            <a:r>
              <a:rPr lang="en-US" b="1" dirty="0"/>
              <a:t>team empowerment and flow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	Deliver </a:t>
            </a:r>
            <a:r>
              <a:rPr lang="en-US" i="1" dirty="0"/>
              <a:t>the right product</a:t>
            </a:r>
            <a:r>
              <a:rPr lang="en-US" dirty="0"/>
              <a:t>, </a:t>
            </a:r>
            <a:r>
              <a:rPr lang="en-US" i="1" dirty="0"/>
              <a:t>at the right time</a:t>
            </a:r>
            <a:r>
              <a:rPr lang="en-US" dirty="0"/>
              <a:t>, </a:t>
            </a:r>
            <a:r>
              <a:rPr lang="en-US" i="1" dirty="0"/>
              <a:t>with the least effort and waste.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25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6B87-8990-4D75-AFE3-8C749680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principles of LEAN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904D2-3263-4152-9D44-BCA3C5DA1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9089" y="2557463"/>
            <a:ext cx="559382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671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EC72-46FF-4A66-AA67-0CA084A5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Agile 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8A24-AED7-4635-993A-31DFBA79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Identify Value</a:t>
            </a:r>
            <a:r>
              <a:rPr lang="en-US" dirty="0"/>
              <a:t> → Understand customer needs.</a:t>
            </a:r>
          </a:p>
          <a:p>
            <a:r>
              <a:rPr lang="en-US" b="1" dirty="0"/>
              <a:t>Map the Value Stream</a:t>
            </a:r>
            <a:r>
              <a:rPr lang="en-US" dirty="0"/>
              <a:t> → Identify all steps in delivery.</a:t>
            </a:r>
          </a:p>
          <a:p>
            <a:r>
              <a:rPr lang="en-US" b="1" dirty="0"/>
              <a:t>Create Flow</a:t>
            </a:r>
            <a:r>
              <a:rPr lang="en-US" dirty="0"/>
              <a:t> → Eliminate bottlenecks and optimize sequence.</a:t>
            </a:r>
          </a:p>
          <a:p>
            <a:r>
              <a:rPr lang="en-US" b="1" dirty="0"/>
              <a:t>Establish Pull</a:t>
            </a:r>
            <a:r>
              <a:rPr lang="en-US" dirty="0"/>
              <a:t> → Let teams pull new work when ready.</a:t>
            </a:r>
          </a:p>
          <a:p>
            <a:r>
              <a:rPr lang="en-US" b="1" dirty="0"/>
              <a:t>Pursue Perfection</a:t>
            </a:r>
            <a:r>
              <a:rPr lang="en-US" dirty="0"/>
              <a:t> → Continuously improve every step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healthcare analytics team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Maps their workflow for claim processing.</a:t>
            </a:r>
          </a:p>
          <a:p>
            <a:pPr lvl="1"/>
            <a:r>
              <a:rPr lang="en-US" dirty="0"/>
              <a:t>Identifies delays in QA testing as a bottleneck.</a:t>
            </a:r>
          </a:p>
          <a:p>
            <a:pPr lvl="1"/>
            <a:r>
              <a:rPr lang="en-US" dirty="0"/>
              <a:t>Automates regression tests.</a:t>
            </a:r>
          </a:p>
          <a:p>
            <a:pPr lvl="1"/>
            <a:r>
              <a:rPr lang="en-US" dirty="0"/>
              <a:t>Reduces delivery time from </a:t>
            </a:r>
            <a:r>
              <a:rPr lang="en-US" b="1" dirty="0"/>
              <a:t>3 weeks → 1 week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Continuously measures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39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261D-D3FD-465F-9520-7BC12398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 of Lean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68FFC-0A08-4302-AC11-4DDA2CDCC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Example 1: Toyota (Origin)</a:t>
            </a:r>
            <a:endParaRPr lang="en-US" dirty="0"/>
          </a:p>
          <a:p>
            <a:pPr lvl="1"/>
            <a:r>
              <a:rPr lang="en-US" dirty="0"/>
              <a:t>Introduced </a:t>
            </a:r>
            <a:r>
              <a:rPr lang="en-US" b="1" dirty="0"/>
              <a:t>Just-In-Time (JIT)</a:t>
            </a:r>
            <a:r>
              <a:rPr lang="en-US" dirty="0"/>
              <a:t> production.</a:t>
            </a:r>
          </a:p>
          <a:p>
            <a:pPr lvl="1"/>
            <a:r>
              <a:rPr lang="en-US" dirty="0"/>
              <a:t>Only produce what is needed when it’s needed.</a:t>
            </a:r>
          </a:p>
          <a:p>
            <a:pPr lvl="1"/>
            <a:r>
              <a:rPr lang="en-US" dirty="0"/>
              <a:t>Inspired the pull-based system in software.</a:t>
            </a:r>
          </a:p>
          <a:p>
            <a:r>
              <a:rPr lang="en-US" b="1" dirty="0"/>
              <a:t>Example 2: Amazon</a:t>
            </a:r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b="1" dirty="0"/>
              <a:t>continuous deployment</a:t>
            </a:r>
            <a:r>
              <a:rPr lang="en-US" dirty="0"/>
              <a:t> and </a:t>
            </a:r>
            <a:r>
              <a:rPr lang="en-US" b="1" dirty="0"/>
              <a:t>small batch releases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Teams deploy thousands of updates daily with automated pipelines.</a:t>
            </a:r>
          </a:p>
          <a:p>
            <a:r>
              <a:rPr lang="en-US" b="1" dirty="0"/>
              <a:t>Example 3: Spotify</a:t>
            </a:r>
            <a:endParaRPr lang="en-US" dirty="0"/>
          </a:p>
          <a:p>
            <a:pPr lvl="1"/>
            <a:r>
              <a:rPr lang="en-US" dirty="0"/>
              <a:t>Applies Lean-Agile mindset through </a:t>
            </a:r>
            <a:r>
              <a:rPr lang="en-US" b="1" dirty="0"/>
              <a:t>Squads</a:t>
            </a:r>
            <a:r>
              <a:rPr lang="en-US" dirty="0"/>
              <a:t>, </a:t>
            </a:r>
            <a:r>
              <a:rPr lang="en-US" b="1" dirty="0"/>
              <a:t>Tribes</a:t>
            </a:r>
            <a:r>
              <a:rPr lang="en-US" dirty="0"/>
              <a:t>, and </a:t>
            </a:r>
            <a:r>
              <a:rPr lang="en-US" b="1" dirty="0"/>
              <a:t>Guilds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Focuses on </a:t>
            </a:r>
            <a:r>
              <a:rPr lang="en-US" b="1" dirty="0"/>
              <a:t>autonomous teams</a:t>
            </a:r>
            <a:r>
              <a:rPr lang="en-US" dirty="0"/>
              <a:t> and </a:t>
            </a:r>
            <a:r>
              <a:rPr lang="en-US" b="1" dirty="0"/>
              <a:t>continuous improvement</a:t>
            </a:r>
            <a:r>
              <a:rPr lang="en-US" dirty="0"/>
              <a:t>.</a:t>
            </a:r>
          </a:p>
          <a:p>
            <a:r>
              <a:rPr lang="en-US" b="1" dirty="0"/>
              <a:t>Example 4: Healthcare Analytics</a:t>
            </a:r>
            <a:endParaRPr lang="en-US" dirty="0"/>
          </a:p>
          <a:p>
            <a:pPr lvl="1"/>
            <a:r>
              <a:rPr lang="en-US" dirty="0"/>
              <a:t>Team eliminates manual Excel reporting (waste) by building automated dashboards → value delivered </a:t>
            </a:r>
            <a:r>
              <a:rPr lang="en-US" dirty="0" err="1"/>
              <a:t>faste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76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0084-8799-249D-0FB3-F4AEFD39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9E789-D898-D8F4-0347-4AE5EBC4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LEAN works through </a:t>
            </a:r>
            <a:r>
              <a:rPr lang="en-US" b="1" dirty="0"/>
              <a:t>5 main principles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Identify Value</a:t>
            </a:r>
          </a:p>
          <a:p>
            <a:pPr lvl="1"/>
            <a:r>
              <a:rPr lang="en-US" dirty="0"/>
              <a:t>Understand what the </a:t>
            </a:r>
            <a:r>
              <a:rPr lang="en-US" b="1" dirty="0"/>
              <a:t>customer truly needs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A customer needs:</a:t>
            </a:r>
          </a:p>
          <a:p>
            <a:pPr lvl="2"/>
            <a:r>
              <a:rPr lang="en-US" dirty="0"/>
              <a:t>A fast login process</a:t>
            </a:r>
          </a:p>
          <a:p>
            <a:pPr lvl="2"/>
            <a:r>
              <a:rPr lang="en-US" dirty="0"/>
              <a:t>Not a complex registration form</a:t>
            </a:r>
          </a:p>
          <a:p>
            <a:pPr lvl="2"/>
            <a:r>
              <a:rPr lang="en-US" dirty="0"/>
              <a:t>So the team focuses on improving the login speed.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938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6925-EDAD-0334-7254-853A49B2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DE70-0AB6-ACE3-B9EB-F6D5AE81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104A-22FD-E869-4730-CCECBF9A8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Map the Value Stream</a:t>
            </a:r>
          </a:p>
          <a:p>
            <a:pPr lvl="1"/>
            <a:r>
              <a:rPr lang="en-US" dirty="0"/>
              <a:t>Visualize all steps from start to delivery</a:t>
            </a:r>
          </a:p>
          <a:p>
            <a:pPr lvl="1"/>
            <a:r>
              <a:rPr lang="en-US" dirty="0"/>
              <a:t>Identify which steps </a:t>
            </a:r>
            <a:r>
              <a:rPr lang="en-US" b="1" dirty="0"/>
              <a:t>add value</a:t>
            </a:r>
            <a:r>
              <a:rPr lang="en-US" dirty="0"/>
              <a:t> and which do not.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Steps to fix a bug:</a:t>
            </a:r>
          </a:p>
          <a:p>
            <a:pPr lvl="2"/>
            <a:r>
              <a:rPr lang="en-US" dirty="0"/>
              <a:t>Log the bug</a:t>
            </a:r>
          </a:p>
          <a:p>
            <a:pPr lvl="2"/>
            <a:r>
              <a:rPr lang="en-US" dirty="0"/>
              <a:t>Assign to developer</a:t>
            </a:r>
          </a:p>
          <a:p>
            <a:pPr lvl="2"/>
            <a:r>
              <a:rPr lang="en-US" dirty="0"/>
              <a:t>Developer checks logs</a:t>
            </a:r>
          </a:p>
          <a:p>
            <a:pPr lvl="2"/>
            <a:r>
              <a:rPr lang="en-US" dirty="0"/>
              <a:t>Developer waits 2 days for server access → </a:t>
            </a:r>
            <a:r>
              <a:rPr lang="en-US" b="1" dirty="0"/>
              <a:t>waste</a:t>
            </a:r>
            <a:endParaRPr lang="en-US" dirty="0"/>
          </a:p>
          <a:p>
            <a:pPr lvl="2"/>
            <a:r>
              <a:rPr lang="en-US" dirty="0"/>
              <a:t>Fix the bug</a:t>
            </a:r>
          </a:p>
          <a:p>
            <a:pPr lvl="2"/>
            <a:r>
              <a:rPr lang="en-US" dirty="0"/>
              <a:t>QA tests</a:t>
            </a:r>
          </a:p>
          <a:p>
            <a:pPr lvl="1"/>
            <a:r>
              <a:rPr lang="en-US" dirty="0"/>
              <a:t>The waiting step is waste and must be removed.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07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12CB-9948-1B9E-89BF-F38A97DB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8CE9-0C89-A99E-752A-AE72AB71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67C3-37ED-DD4D-90B1-61B941C50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Create Flow</a:t>
            </a:r>
          </a:p>
          <a:p>
            <a:pPr lvl="1"/>
            <a:r>
              <a:rPr lang="en-US" dirty="0"/>
              <a:t>Ensure the work moves smoothly without interruptions or delays.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A team automates code deployment so developers don’t wait for manual approvals.</a:t>
            </a:r>
            <a:br>
              <a:rPr lang="en-US" dirty="0"/>
            </a:br>
            <a:r>
              <a:rPr lang="en-US" dirty="0"/>
              <a:t>This creates a faster flow of work.</a:t>
            </a:r>
          </a:p>
          <a:p>
            <a:pPr marL="0" indent="0">
              <a:buNone/>
            </a:pPr>
            <a:r>
              <a:rPr lang="en-US" b="1" dirty="0"/>
              <a:t>Establish Pull</a:t>
            </a:r>
          </a:p>
          <a:p>
            <a:pPr lvl="1"/>
            <a:r>
              <a:rPr lang="en-US" dirty="0"/>
              <a:t>Work is done </a:t>
            </a:r>
            <a:r>
              <a:rPr lang="en-US" b="1" dirty="0"/>
              <a:t>when needed</a:t>
            </a:r>
            <a:r>
              <a:rPr lang="en-US" dirty="0"/>
              <a:t>, not pushed unnecessarily.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In Kanban, a developer takes a new task </a:t>
            </a:r>
            <a:r>
              <a:rPr lang="en-US" b="1" dirty="0"/>
              <a:t>only when they finish the current one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No overload, no switching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379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FF0-15FD-869B-27EC-FDDF19E8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9620-BCA3-156F-CE37-82AA43C7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EEEF-7FC3-5FA9-0334-60A87776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Continuous Improvement (Kaizen)</a:t>
            </a:r>
          </a:p>
          <a:p>
            <a:pPr lvl="1"/>
            <a:r>
              <a:rPr lang="en-US" dirty="0"/>
              <a:t>Teams constantly find small ways to improve.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Daily standups identify small wastes:</a:t>
            </a:r>
          </a:p>
          <a:p>
            <a:pPr lvl="2"/>
            <a:r>
              <a:rPr lang="en-US" dirty="0"/>
              <a:t>Slow testing? → Automate it</a:t>
            </a:r>
          </a:p>
          <a:p>
            <a:pPr lvl="2"/>
            <a:r>
              <a:rPr lang="en-US" dirty="0"/>
              <a:t>Too many bugs? → Improve code review</a:t>
            </a:r>
          </a:p>
          <a:p>
            <a:pPr lvl="2"/>
            <a:r>
              <a:rPr lang="en-US" dirty="0"/>
              <a:t>Delayed releases? → Improve CI/CD</a:t>
            </a:r>
          </a:p>
          <a:p>
            <a:pPr lvl="1"/>
            <a:r>
              <a:rPr lang="en-US" dirty="0"/>
              <a:t>Small improvements → Big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093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5C3B-D30B-9F81-32E5-F894FAD2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Waste In 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6DD8-B1AA-0550-2C9E-25FD3E902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LEAN removes wastes such as:</a:t>
            </a:r>
          </a:p>
          <a:p>
            <a:pPr lvl="1"/>
            <a:r>
              <a:rPr lang="en-US" dirty="0"/>
              <a:t>Waiting</a:t>
            </a:r>
          </a:p>
          <a:p>
            <a:pPr lvl="1"/>
            <a:r>
              <a:rPr lang="en-US" dirty="0"/>
              <a:t>Extra steps</a:t>
            </a:r>
          </a:p>
          <a:p>
            <a:pPr lvl="1"/>
            <a:r>
              <a:rPr lang="en-US" dirty="0"/>
              <a:t>Rework</a:t>
            </a:r>
          </a:p>
          <a:p>
            <a:pPr lvl="1"/>
            <a:r>
              <a:rPr lang="en-US" dirty="0"/>
              <a:t>Overproduction</a:t>
            </a:r>
          </a:p>
          <a:p>
            <a:pPr lvl="1"/>
            <a:r>
              <a:rPr lang="en-US" dirty="0"/>
              <a:t>Unnecessary movement</a:t>
            </a:r>
          </a:p>
          <a:p>
            <a:pPr lvl="1"/>
            <a:r>
              <a:rPr lang="en-US" dirty="0"/>
              <a:t>Too much inventory</a:t>
            </a:r>
          </a:p>
          <a:p>
            <a:pPr lvl="1"/>
            <a:r>
              <a:rPr lang="en-US" dirty="0"/>
              <a:t>Unused talent</a:t>
            </a:r>
          </a:p>
          <a:p>
            <a:pPr lvl="1"/>
            <a:r>
              <a:rPr lang="en-US" b="1" dirty="0"/>
              <a:t>Example</a:t>
            </a:r>
          </a:p>
          <a:p>
            <a:pPr lvl="2"/>
            <a:r>
              <a:rPr lang="en-US" dirty="0"/>
              <a:t>Waiting 3 days for requirement clarification = </a:t>
            </a:r>
            <a:r>
              <a:rPr lang="en-US" b="1" dirty="0"/>
              <a:t>waste</a:t>
            </a:r>
            <a:br>
              <a:rPr lang="en-US" dirty="0"/>
            </a:br>
            <a:r>
              <a:rPr lang="en-US" dirty="0"/>
              <a:t>Fix: Product Owner must be available daily.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725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D229-DEC0-48E0-A2D5-BF628707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8242-1212-8080-1EAE-126D7616E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LEAN = Remove Waste + Deliver Value Faster + Continuous Improvement</a:t>
            </a:r>
            <a:endParaRPr lang="en-US" dirty="0"/>
          </a:p>
          <a:p>
            <a:r>
              <a:rPr lang="en-US" dirty="0"/>
              <a:t>Examples in IT:</a:t>
            </a:r>
          </a:p>
          <a:p>
            <a:pPr lvl="1"/>
            <a:r>
              <a:rPr lang="en-US" dirty="0"/>
              <a:t>Remove waiting → Faster approvals</a:t>
            </a:r>
          </a:p>
          <a:p>
            <a:pPr lvl="1"/>
            <a:r>
              <a:rPr lang="en-US" dirty="0"/>
              <a:t>Remove rework → Better requirements</a:t>
            </a:r>
          </a:p>
          <a:p>
            <a:pPr lvl="1"/>
            <a:r>
              <a:rPr lang="en-US" dirty="0"/>
              <a:t>Remove delays → Automate deployments</a:t>
            </a:r>
          </a:p>
          <a:p>
            <a:pPr lvl="1"/>
            <a:r>
              <a:rPr lang="en-US" dirty="0"/>
              <a:t>Improve flow → Use Kanban</a:t>
            </a:r>
          </a:p>
          <a:p>
            <a:r>
              <a:rPr lang="en-US" dirty="0"/>
              <a:t>LEAN makes teams </a:t>
            </a:r>
            <a:r>
              <a:rPr lang="en-US" b="1" dirty="0"/>
              <a:t>faster, efficient, and high-quality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9806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AD2F-4404-41F7-9986-B138C5EF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(Scaled Agile Framework)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7D7B0-DFC8-4A91-ABD8-458AC9EF1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SAFe</a:t>
            </a:r>
            <a:r>
              <a:rPr lang="en-US" b="1" dirty="0"/>
              <a:t> (Scaled Agile Framework)</a:t>
            </a:r>
            <a:r>
              <a:rPr lang="en-US" dirty="0"/>
              <a:t> is a structured approach that helps </a:t>
            </a:r>
            <a:r>
              <a:rPr lang="en-US" b="1" dirty="0"/>
              <a:t>large organizations implement Agile</a:t>
            </a:r>
            <a:r>
              <a:rPr lang="en-US" dirty="0"/>
              <a:t> at </a:t>
            </a:r>
            <a:r>
              <a:rPr lang="en-US" b="1" dirty="0"/>
              <a:t>enterprise scale</a:t>
            </a:r>
            <a:r>
              <a:rPr lang="en-US" dirty="0"/>
              <a:t>.</a:t>
            </a:r>
          </a:p>
          <a:p>
            <a:r>
              <a:rPr lang="en-US" dirty="0"/>
              <a:t>It combines </a:t>
            </a:r>
            <a:r>
              <a:rPr lang="en-US" b="1" dirty="0"/>
              <a:t>Lean</a:t>
            </a:r>
            <a:r>
              <a:rPr lang="en-US" dirty="0"/>
              <a:t>, </a:t>
            </a:r>
            <a:r>
              <a:rPr lang="en-US" b="1" dirty="0"/>
              <a:t>Agile</a:t>
            </a:r>
            <a:r>
              <a:rPr lang="en-US" dirty="0"/>
              <a:t>, and </a:t>
            </a:r>
            <a:r>
              <a:rPr lang="en-US" b="1" dirty="0"/>
              <a:t>DevOps</a:t>
            </a:r>
            <a:r>
              <a:rPr lang="en-US" dirty="0"/>
              <a:t> principles to align </a:t>
            </a:r>
            <a:r>
              <a:rPr lang="en-US" b="1" dirty="0"/>
              <a:t>teams</a:t>
            </a:r>
            <a:r>
              <a:rPr lang="en-US" dirty="0"/>
              <a:t>, </a:t>
            </a:r>
            <a:r>
              <a:rPr lang="en-US" b="1" dirty="0"/>
              <a:t>programs</a:t>
            </a:r>
            <a:r>
              <a:rPr lang="en-US" dirty="0"/>
              <a:t>, and </a:t>
            </a:r>
            <a:r>
              <a:rPr lang="en-US" b="1" dirty="0"/>
              <a:t>portfolios</a:t>
            </a:r>
            <a:r>
              <a:rPr lang="en-US" dirty="0"/>
              <a:t> around common business goals.</a:t>
            </a:r>
          </a:p>
          <a:p>
            <a:r>
              <a:rPr lang="en-US" dirty="0"/>
              <a:t>Designed for enterprises where </a:t>
            </a:r>
            <a:r>
              <a:rPr lang="en-US" b="1" dirty="0"/>
              <a:t>multiple Agile teams</a:t>
            </a:r>
            <a:r>
              <a:rPr lang="en-US" dirty="0"/>
              <a:t> (50–1000+ people) must collaborate and deliver integrated solutions.</a:t>
            </a:r>
          </a:p>
          <a:p>
            <a:r>
              <a:rPr lang="en-US" b="1" dirty="0"/>
              <a:t>Key Objective:</a:t>
            </a:r>
            <a:br>
              <a:rPr lang="en-US" dirty="0"/>
            </a:br>
            <a:r>
              <a:rPr lang="en-US" dirty="0"/>
              <a:t>Deliver </a:t>
            </a:r>
            <a:r>
              <a:rPr lang="en-US" b="1" dirty="0"/>
              <a:t>value faster and continuously</a:t>
            </a:r>
            <a:r>
              <a:rPr lang="en-US" dirty="0"/>
              <a:t>, across the organization, while maintaining </a:t>
            </a:r>
            <a:r>
              <a:rPr lang="en-US" b="1" dirty="0"/>
              <a:t>alignment, quality, and governance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global healthcare analytics company with 20 Agile teams across departments uses </a:t>
            </a:r>
            <a:r>
              <a:rPr lang="en-US" dirty="0" err="1"/>
              <a:t>SAFe</a:t>
            </a:r>
            <a:r>
              <a:rPr lang="en-US" dirty="0"/>
              <a:t> to align all teams to a single “Enterprise Data Platform” roadmap.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964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027D-5ECE-4068-9EA9-E4E58068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SAFe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5625-88D8-4ACE-83B1-F52858E01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Traditional Agile works well for </a:t>
            </a:r>
            <a:r>
              <a:rPr lang="en-US" b="1" dirty="0"/>
              <a:t>small teams (5–10 members)</a:t>
            </a:r>
            <a:r>
              <a:rPr lang="en-US" dirty="0"/>
              <a:t>, but challenges arise at scale:</a:t>
            </a:r>
          </a:p>
          <a:p>
            <a:pPr lvl="1"/>
            <a:r>
              <a:rPr lang="en-US" dirty="0"/>
              <a:t>Multiple teams working on the </a:t>
            </a:r>
            <a:r>
              <a:rPr lang="en-US" b="1" dirty="0"/>
              <a:t>same product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Dependencies</a:t>
            </a:r>
            <a:r>
              <a:rPr lang="en-US" dirty="0"/>
              <a:t> between teams.</a:t>
            </a:r>
          </a:p>
          <a:p>
            <a:pPr lvl="1"/>
            <a:r>
              <a:rPr lang="en-US" b="1" dirty="0"/>
              <a:t>Different priorities</a:t>
            </a:r>
            <a:r>
              <a:rPr lang="en-US" dirty="0"/>
              <a:t> and lack of alignment.</a:t>
            </a:r>
          </a:p>
          <a:p>
            <a:pPr lvl="1"/>
            <a:r>
              <a:rPr lang="en-US" dirty="0"/>
              <a:t>Need for </a:t>
            </a:r>
            <a:r>
              <a:rPr lang="en-US" b="1" dirty="0"/>
              <a:t>governance</a:t>
            </a:r>
            <a:r>
              <a:rPr lang="en-US" dirty="0"/>
              <a:t>, </a:t>
            </a:r>
            <a:r>
              <a:rPr lang="en-US" b="1" dirty="0"/>
              <a:t>compliance</a:t>
            </a:r>
            <a:r>
              <a:rPr lang="en-US" dirty="0"/>
              <a:t>, and </a:t>
            </a:r>
            <a:r>
              <a:rPr lang="en-US" b="1" dirty="0"/>
              <a:t>strategic planning</a:t>
            </a:r>
            <a:r>
              <a:rPr lang="en-US" dirty="0"/>
              <a:t>.</a:t>
            </a:r>
          </a:p>
          <a:p>
            <a:r>
              <a:rPr lang="en-US" dirty="0" err="1"/>
              <a:t>SAFe</a:t>
            </a:r>
            <a:r>
              <a:rPr lang="en-US" dirty="0"/>
              <a:t> addresses these by:</a:t>
            </a:r>
            <a:br>
              <a:rPr lang="en-US" dirty="0"/>
            </a:br>
            <a:r>
              <a:rPr lang="en-US" dirty="0"/>
              <a:t>Synchronizing multiple teams</a:t>
            </a:r>
            <a:br>
              <a:rPr lang="en-US" dirty="0"/>
            </a:br>
            <a:r>
              <a:rPr lang="en-US" dirty="0"/>
              <a:t>Aligning strategy with execution</a:t>
            </a:r>
            <a:br>
              <a:rPr lang="en-US" dirty="0"/>
            </a:br>
            <a:r>
              <a:rPr lang="en-US" dirty="0"/>
              <a:t>Ensuring built-in quality and governance</a:t>
            </a:r>
            <a:br>
              <a:rPr lang="en-US" dirty="0"/>
            </a:br>
            <a:r>
              <a:rPr lang="en-US" dirty="0"/>
              <a:t>Enabling enterprise agility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618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C088-04D6-48B5-A9F4-D235FA21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in </a:t>
            </a:r>
            <a:r>
              <a:rPr lang="en-US" dirty="0" err="1"/>
              <a:t>SAFe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075CBF-1C67-45F5-AF86-C1990AFD59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09295" y="2557463"/>
          <a:ext cx="7573410" cy="3317875"/>
        </p:xfrm>
        <a:graphic>
          <a:graphicData uri="http://schemas.openxmlformats.org/drawingml/2006/table">
            <a:tbl>
              <a:tblPr/>
              <a:tblGrid>
                <a:gridCol w="2524470">
                  <a:extLst>
                    <a:ext uri="{9D8B030D-6E8A-4147-A177-3AD203B41FA5}">
                      <a16:colId xmlns:a16="http://schemas.microsoft.com/office/drawing/2014/main" val="478287580"/>
                    </a:ext>
                  </a:extLst>
                </a:gridCol>
                <a:gridCol w="2524470">
                  <a:extLst>
                    <a:ext uri="{9D8B030D-6E8A-4147-A177-3AD203B41FA5}">
                      <a16:colId xmlns:a16="http://schemas.microsoft.com/office/drawing/2014/main" val="1701609409"/>
                    </a:ext>
                  </a:extLst>
                </a:gridCol>
                <a:gridCol w="2524470">
                  <a:extLst>
                    <a:ext uri="{9D8B030D-6E8A-4147-A177-3AD203B41FA5}">
                      <a16:colId xmlns:a16="http://schemas.microsoft.com/office/drawing/2014/main" val="2697606125"/>
                    </a:ext>
                  </a:extLst>
                </a:gridCol>
              </a:tblGrid>
              <a:tr h="288511">
                <a:tc>
                  <a:txBody>
                    <a:bodyPr/>
                    <a:lstStyle/>
                    <a:p>
                      <a:r>
                        <a:rPr lang="en-US" sz="1400" b="1"/>
                        <a:t>Event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Purpose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044364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PI Planning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Align all teams on goals for the next 8–12 weeks.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Teams plan features for “Patient Data Integration” for next PI.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390698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Iteration Planning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Team-level sprint planning every 2 weeks.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 sprint backlog.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042595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System Demo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Show integrated work from all teams at end of iteration.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Demo full workflow from frontend to backend.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32066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Inspect &amp; Adapt (I&amp;A)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Reflect and improve processes after each PI.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Identify quality or flow bottlenecks.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148582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Scrum of Scrums (SoS)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Coordination meeting between teams.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Discuss dependencies across ART.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017019"/>
                  </a:ext>
                </a:extLst>
              </a:tr>
              <a:tr h="504894">
                <a:tc>
                  <a:txBody>
                    <a:bodyPr/>
                    <a:lstStyle/>
                    <a:p>
                      <a:r>
                        <a:rPr lang="en-US" sz="1400" b="1"/>
                        <a:t>PO Sync</a:t>
                      </a:r>
                      <a:endParaRPr lang="en-US" sz="1400"/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Align Product Owners across teams on priorities.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Ensure consistent backlog refinement.</a:t>
                      </a:r>
                    </a:p>
                  </a:txBody>
                  <a:tcPr marL="72128" marR="72128" marT="36064" marB="360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573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3780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DD36-D69D-4C4B-B26D-594E13CB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in </a:t>
            </a:r>
            <a:r>
              <a:rPr lang="en-US" dirty="0" err="1"/>
              <a:t>SAFe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E86FC-FA17-416E-AAA3-ABBAB9D56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Notes:</a:t>
            </a:r>
            <a:endParaRPr lang="en-US" dirty="0"/>
          </a:p>
          <a:p>
            <a:r>
              <a:rPr lang="en-US" b="1" dirty="0"/>
              <a:t>Team Level</a:t>
            </a:r>
          </a:p>
          <a:p>
            <a:r>
              <a:rPr lang="en-US" b="1" dirty="0"/>
              <a:t>Scrum Master</a:t>
            </a:r>
            <a:r>
              <a:rPr lang="en-US" dirty="0"/>
              <a:t> – Facilitates team ceremonies, removes blockers.</a:t>
            </a:r>
          </a:p>
          <a:p>
            <a:r>
              <a:rPr lang="en-US" b="1" dirty="0"/>
              <a:t>Product Owner</a:t>
            </a:r>
            <a:r>
              <a:rPr lang="en-US" dirty="0"/>
              <a:t> – Manages team backlog and priorities.</a:t>
            </a:r>
          </a:p>
          <a:p>
            <a:r>
              <a:rPr lang="en-US" b="1" dirty="0"/>
              <a:t>Agile Team</a:t>
            </a:r>
            <a:r>
              <a:rPr lang="en-US" dirty="0"/>
              <a:t> – Develops, tests, and delivers working software.</a:t>
            </a:r>
          </a:p>
          <a:p>
            <a:r>
              <a:rPr lang="en-US" b="1" dirty="0"/>
              <a:t>Program Level</a:t>
            </a:r>
          </a:p>
          <a:p>
            <a:r>
              <a:rPr lang="en-US" b="1" dirty="0"/>
              <a:t>Release Train Engineer (RTE)</a:t>
            </a:r>
            <a:r>
              <a:rPr lang="en-US" dirty="0"/>
              <a:t> – “Chief Scrum Master” for ART; ensures coordination and flow.</a:t>
            </a:r>
          </a:p>
          <a:p>
            <a:r>
              <a:rPr lang="en-US" b="1" dirty="0"/>
              <a:t>Product Management</a:t>
            </a:r>
            <a:r>
              <a:rPr lang="en-US" dirty="0"/>
              <a:t> – Defines vision and prioritizes Program Backlog.</a:t>
            </a:r>
          </a:p>
          <a:p>
            <a:r>
              <a:rPr lang="en-US" b="1" dirty="0"/>
              <a:t>System Architect/Engineer</a:t>
            </a:r>
            <a:r>
              <a:rPr lang="en-US" dirty="0"/>
              <a:t> – Defines overall technical vision.</a:t>
            </a:r>
          </a:p>
          <a:p>
            <a:r>
              <a:rPr lang="en-US" b="1" dirty="0"/>
              <a:t>Portfolio Level</a:t>
            </a:r>
          </a:p>
          <a:p>
            <a:r>
              <a:rPr lang="en-US" b="1" dirty="0"/>
              <a:t>Lean Portfolio Management (LPM)</a:t>
            </a:r>
            <a:r>
              <a:rPr lang="en-US" dirty="0"/>
              <a:t> – Aligns strategy, budgeting, and execution.</a:t>
            </a:r>
          </a:p>
          <a:p>
            <a:r>
              <a:rPr lang="en-US" b="1" dirty="0"/>
              <a:t>Epic Owners</a:t>
            </a:r>
            <a:r>
              <a:rPr lang="en-US" dirty="0"/>
              <a:t> – Manage large-scale business initiatives.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19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6733-1118-4B0E-88E0-20553B40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Work Artifacts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A9B6FD-A847-4705-B41A-55DDCE2D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53" y="2354818"/>
            <a:ext cx="9167812" cy="352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703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6F96-14BA-9BB4-AACE-3FD06D6E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ABB0-8644-A303-5C38-AF7664F1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Define Business Strategy (Portfolio Level)</a:t>
            </a:r>
          </a:p>
          <a:p>
            <a:r>
              <a:rPr lang="en-US" dirty="0"/>
              <a:t>Leaders set:</a:t>
            </a:r>
          </a:p>
          <a:p>
            <a:pPr lvl="1"/>
            <a:r>
              <a:rPr lang="en-US" dirty="0"/>
              <a:t>Vision</a:t>
            </a:r>
          </a:p>
          <a:p>
            <a:pPr lvl="1"/>
            <a:r>
              <a:rPr lang="en-US" dirty="0"/>
              <a:t>Business goals</a:t>
            </a:r>
          </a:p>
          <a:p>
            <a:pPr lvl="1"/>
            <a:r>
              <a:rPr lang="en-US" dirty="0"/>
              <a:t>Budgets</a:t>
            </a:r>
          </a:p>
          <a:p>
            <a:pPr lvl="1"/>
            <a:r>
              <a:rPr lang="en-US" dirty="0"/>
              <a:t>Value streams (end-to-end flow of value)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“Build a new digital healthcare platform in 2025.”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598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160B-3BAE-5CEC-5F22-BE3D535A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33F0-A846-ADC5-EB28-C144ACFC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E45B-C8DD-29E5-7933-3E0896AE1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ARTs (Agile Release Trains)</a:t>
            </a:r>
          </a:p>
          <a:p>
            <a:r>
              <a:rPr lang="en-US" dirty="0"/>
              <a:t>An </a:t>
            </a:r>
            <a:r>
              <a:rPr lang="en-US" b="1" dirty="0"/>
              <a:t>ART</a:t>
            </a:r>
            <a:r>
              <a:rPr lang="en-US" dirty="0"/>
              <a:t> is a long-term team-of-teams (50–125 people) that delivers value together.</a:t>
            </a:r>
          </a:p>
          <a:p>
            <a:pPr lvl="1"/>
            <a:r>
              <a:rPr lang="en-US" dirty="0"/>
              <a:t>Includes developers, testers, architects, PO, SM, RTE</a:t>
            </a:r>
          </a:p>
          <a:p>
            <a:pPr lvl="1"/>
            <a:r>
              <a:rPr lang="en-US" dirty="0"/>
              <a:t>Works on the same mission</a:t>
            </a:r>
          </a:p>
          <a:p>
            <a:pPr lvl="1"/>
            <a:r>
              <a:rPr lang="en-US" dirty="0"/>
              <a:t>Operates on a fixed calendar (Program Increment)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3846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B100-D65B-961B-68CB-16FD3064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A8E5-15A2-D25D-4A3B-6FD3C632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0A1E-8D26-A98F-F1A7-A8165F52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Build the Program Backlog</a:t>
            </a:r>
          </a:p>
          <a:p>
            <a:r>
              <a:rPr lang="en-US" dirty="0"/>
              <a:t>The </a:t>
            </a:r>
            <a:r>
              <a:rPr lang="en-US" b="1" dirty="0"/>
              <a:t>Product Management</a:t>
            </a:r>
            <a:r>
              <a:rPr lang="en-US" dirty="0"/>
              <a:t> prepares features for the ART.</a:t>
            </a:r>
          </a:p>
          <a:p>
            <a:r>
              <a:rPr lang="en-US" dirty="0"/>
              <a:t>Features include:</a:t>
            </a:r>
          </a:p>
          <a:p>
            <a:pPr lvl="1"/>
            <a:r>
              <a:rPr lang="en-US" dirty="0"/>
              <a:t>Description</a:t>
            </a:r>
          </a:p>
          <a:p>
            <a:pPr lvl="1"/>
            <a:r>
              <a:rPr lang="en-US" dirty="0"/>
              <a:t>Business value</a:t>
            </a:r>
          </a:p>
          <a:p>
            <a:pPr lvl="1"/>
            <a:r>
              <a:rPr lang="en-US" dirty="0"/>
              <a:t>Acceptance criteria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“Add online appointment scheduling.”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5342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6079-658A-BA30-74B9-51A2DEE1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5F31-E248-35B3-4B3B-06F75E7B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A9750-D368-6DD4-B4B0-5BA51A47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PI Planning (The Biggest </a:t>
            </a:r>
            <a:r>
              <a:rPr lang="en-US" b="1" dirty="0" err="1"/>
              <a:t>SAFe</a:t>
            </a:r>
            <a:r>
              <a:rPr lang="en-US" b="1" dirty="0"/>
              <a:t> Event)</a:t>
            </a:r>
          </a:p>
          <a:p>
            <a:r>
              <a:rPr lang="en-US" dirty="0"/>
              <a:t>Every 8–12 weeks, all teams meet (physically or virtually) to plan the next Program Increment.</a:t>
            </a:r>
          </a:p>
          <a:p>
            <a:r>
              <a:rPr lang="en-US" dirty="0"/>
              <a:t>Activities:</a:t>
            </a:r>
          </a:p>
          <a:p>
            <a:pPr lvl="1"/>
            <a:r>
              <a:rPr lang="en-US" dirty="0"/>
              <a:t>Understand the vision</a:t>
            </a:r>
          </a:p>
          <a:p>
            <a:pPr lvl="1"/>
            <a:r>
              <a:rPr lang="en-US" dirty="0"/>
              <a:t>Break features into stories</a:t>
            </a:r>
          </a:p>
          <a:p>
            <a:pPr lvl="1"/>
            <a:r>
              <a:rPr lang="en-US" dirty="0"/>
              <a:t>Identify dependencies</a:t>
            </a:r>
          </a:p>
          <a:p>
            <a:pPr lvl="1"/>
            <a:r>
              <a:rPr lang="en-US" dirty="0"/>
              <a:t>Create team plans</a:t>
            </a:r>
          </a:p>
          <a:p>
            <a:pPr lvl="1"/>
            <a:r>
              <a:rPr lang="en-US" dirty="0"/>
              <a:t>Commit to PI objectives</a:t>
            </a:r>
          </a:p>
          <a:p>
            <a:r>
              <a:rPr lang="en-US" dirty="0"/>
              <a:t>Outcome:</a:t>
            </a:r>
          </a:p>
          <a:p>
            <a:pPr lvl="1"/>
            <a:r>
              <a:rPr lang="en-US" dirty="0"/>
              <a:t>PI Objectives</a:t>
            </a:r>
          </a:p>
          <a:p>
            <a:pPr lvl="1"/>
            <a:r>
              <a:rPr lang="en-US" dirty="0"/>
              <a:t>Risks (</a:t>
            </a:r>
            <a:r>
              <a:rPr lang="en-US" dirty="0" err="1"/>
              <a:t>ROAMed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Program 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626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5FFD-FA81-3D43-0EB3-17419809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E3E0-AD48-6456-5E8A-ACC2AFE6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BA03-55D1-4321-ADCE-B6F7418C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Execute Iterations (Sprints) Within the PI</a:t>
            </a:r>
          </a:p>
          <a:p>
            <a:r>
              <a:rPr lang="en-US" dirty="0"/>
              <a:t>Teams follow Scrum/Kanban to deliver stories.</a:t>
            </a:r>
          </a:p>
          <a:p>
            <a:r>
              <a:rPr lang="en-US" dirty="0"/>
              <a:t>Each iteration:</a:t>
            </a:r>
          </a:p>
          <a:p>
            <a:pPr lvl="1"/>
            <a:r>
              <a:rPr lang="en-US" dirty="0"/>
              <a:t>Iteration Planning</a:t>
            </a:r>
          </a:p>
          <a:p>
            <a:pPr lvl="1"/>
            <a:r>
              <a:rPr lang="en-US" dirty="0"/>
              <a:t>Daily Standups</a:t>
            </a:r>
          </a:p>
          <a:p>
            <a:pPr lvl="1"/>
            <a:r>
              <a:rPr lang="en-US" dirty="0"/>
              <a:t>Development + Testing</a:t>
            </a:r>
          </a:p>
          <a:p>
            <a:pPr lvl="1"/>
            <a:r>
              <a:rPr lang="en-US" dirty="0"/>
              <a:t>Iteration Review</a:t>
            </a:r>
          </a:p>
          <a:p>
            <a:pPr lvl="1"/>
            <a:r>
              <a:rPr lang="en-US" dirty="0"/>
              <a:t>Iteration Retrospective</a:t>
            </a:r>
          </a:p>
          <a:p>
            <a:r>
              <a:rPr lang="en-US" dirty="0"/>
              <a:t>Teams demo working features every 2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067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39F7-ECFD-AAB3-28DB-66E793EF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D38C-6443-AA69-7750-F58EE8A0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976D-050C-769C-5151-16653496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 System Demo (End of Every Iteration)</a:t>
            </a:r>
          </a:p>
          <a:p>
            <a:r>
              <a:rPr lang="en-US" dirty="0"/>
              <a:t>All teams show </a:t>
            </a:r>
            <a:r>
              <a:rPr lang="en-US" b="1" dirty="0"/>
              <a:t>integrated</a:t>
            </a:r>
            <a:r>
              <a:rPr lang="en-US" dirty="0"/>
              <a:t> work to stakeholders.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Ensure features work end-to-end</a:t>
            </a:r>
          </a:p>
          <a:p>
            <a:pPr lvl="1"/>
            <a:r>
              <a:rPr lang="en-US" dirty="0"/>
              <a:t>Get fast feedback</a:t>
            </a:r>
          </a:p>
          <a:p>
            <a:pPr marL="0" indent="0">
              <a:buNone/>
            </a:pPr>
            <a:r>
              <a:rPr lang="en-US" b="1" dirty="0"/>
              <a:t> Inspect &amp; Adapt (End of PI)</a:t>
            </a:r>
          </a:p>
          <a:p>
            <a:r>
              <a:rPr lang="en-US" dirty="0"/>
              <a:t>A larger retrospective for the entire ART.</a:t>
            </a:r>
          </a:p>
          <a:p>
            <a:pPr lvl="1"/>
            <a:r>
              <a:rPr lang="en-US" dirty="0"/>
              <a:t>Includes:</a:t>
            </a:r>
          </a:p>
          <a:p>
            <a:pPr lvl="2"/>
            <a:r>
              <a:rPr lang="en-US"/>
              <a:t>PI demo</a:t>
            </a:r>
          </a:p>
          <a:p>
            <a:pPr lvl="2"/>
            <a:r>
              <a:rPr lang="en-US"/>
              <a:t>Quantitative metrics</a:t>
            </a:r>
          </a:p>
          <a:p>
            <a:pPr lvl="2"/>
            <a:r>
              <a:rPr lang="en-US"/>
              <a:t>Problem-solving workshop</a:t>
            </a:r>
          </a:p>
          <a:p>
            <a:pPr lvl="2"/>
            <a:r>
              <a:rPr lang="en-US"/>
              <a:t>Improvement action items</a:t>
            </a:r>
          </a:p>
          <a:p>
            <a:r>
              <a:rPr lang="en-US"/>
              <a:t>Goal</a:t>
            </a:r>
            <a:r>
              <a:rPr lang="en-US" dirty="0"/>
              <a:t>: </a:t>
            </a:r>
            <a:r>
              <a:rPr lang="en-US" b="1" dirty="0"/>
              <a:t>Continuous improvement across the whole organization.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265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3B28-DF81-39AE-8189-23D22ACD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EB9F-D9DE-7EC6-F00E-42A46348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AB86-EADC-ABFC-CFAE-C9868964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Release Value (On-Demand)</a:t>
            </a:r>
          </a:p>
          <a:p>
            <a:r>
              <a:rPr lang="en-US" dirty="0" err="1"/>
              <a:t>SAFe</a:t>
            </a:r>
            <a:r>
              <a:rPr lang="en-US" dirty="0"/>
              <a:t> allows releasing anytime during or after the PI when the work is ready.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Deploy a new feature to customers</a:t>
            </a:r>
          </a:p>
          <a:p>
            <a:pPr lvl="1"/>
            <a:r>
              <a:rPr lang="en-US" dirty="0"/>
              <a:t>Release an internal tool</a:t>
            </a:r>
          </a:p>
          <a:p>
            <a:pPr marL="0" indent="0">
              <a:buNone/>
            </a:pPr>
            <a:r>
              <a:rPr lang="en-US" b="1" dirty="0"/>
              <a:t>Continuous Learning Culture</a:t>
            </a:r>
          </a:p>
          <a:p>
            <a:r>
              <a:rPr lang="en-US" dirty="0" err="1"/>
              <a:t>SAFe</a:t>
            </a:r>
            <a:r>
              <a:rPr lang="en-US" dirty="0"/>
              <a:t> promotes:</a:t>
            </a:r>
          </a:p>
          <a:p>
            <a:pPr lvl="1"/>
            <a:r>
              <a:rPr lang="en-US" dirty="0"/>
              <a:t>Lean thinking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Continuous delivery pipelines</a:t>
            </a:r>
          </a:p>
          <a:p>
            <a:pPr lvl="1"/>
            <a:r>
              <a:rPr lang="en-US" dirty="0"/>
              <a:t>Innovation time (IP Iteration)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02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89D7-8CF2-2952-EDFF-4F6B944B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047B-C9B2-ADFC-74F0-4071A3D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SAFe</a:t>
            </a:r>
            <a:r>
              <a:rPr lang="en-US" dirty="0"/>
              <a:t> Explained 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C1B3-1988-5DC5-FC1E-99DEAF10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Define strategy and value streams</a:t>
            </a:r>
          </a:p>
          <a:p>
            <a:r>
              <a:rPr lang="en-US" dirty="0"/>
              <a:t>Form Agile Release Trains (ARTs)</a:t>
            </a:r>
          </a:p>
          <a:p>
            <a:r>
              <a:rPr lang="en-US" dirty="0"/>
              <a:t>Prepare program backlog with features</a:t>
            </a:r>
          </a:p>
          <a:p>
            <a:r>
              <a:rPr lang="en-US" dirty="0"/>
              <a:t>Conduct PI Planning (plan 8–12 weeks)</a:t>
            </a:r>
          </a:p>
          <a:p>
            <a:r>
              <a:rPr lang="en-US" dirty="0"/>
              <a:t>Execute sprints and deliver stories</a:t>
            </a:r>
          </a:p>
          <a:p>
            <a:r>
              <a:rPr lang="en-US" dirty="0"/>
              <a:t>Show integrated work in system demos</a:t>
            </a:r>
          </a:p>
          <a:p>
            <a:r>
              <a:rPr lang="en-US" dirty="0"/>
              <a:t>Inspect &amp; Adapt at end of PI</a:t>
            </a:r>
          </a:p>
          <a:p>
            <a:r>
              <a:rPr lang="en-US" dirty="0"/>
              <a:t>Release value on-demand</a:t>
            </a:r>
          </a:p>
          <a:p>
            <a:r>
              <a:rPr lang="en-US" dirty="0"/>
              <a:t>Continuously improve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3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363821d4493ce8644a098042cb96a066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35b59eff4f2b32895e1d204086aee0b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44E953-4701-46FD-8DF9-AA8E2AAE3D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7257D5-8C4F-4A01-BB54-AF8D580F7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464BA5-4213-4A67-BECD-62351A406628}">
  <ds:schemaRefs>
    <ds:schemaRef ds:uri="http://schemas.microsoft.com/office/2006/documentManagement/types"/>
    <ds:schemaRef ds:uri="http://purl.org/dc/elements/1.1/"/>
    <ds:schemaRef ds:uri="http://www.w3.org/XML/1998/namespace"/>
    <ds:schemaRef ds:uri="a4f7e055-52ed-4413-8839-c7f22b2234f6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113</TotalTime>
  <Words>6007</Words>
  <Application>Microsoft Office PowerPoint</Application>
  <PresentationFormat>Widescreen</PresentationFormat>
  <Paragraphs>812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Garamond</vt:lpstr>
      <vt:lpstr>Organic</vt:lpstr>
      <vt:lpstr>Agile - Scrum</vt:lpstr>
      <vt:lpstr>Limitations of the Waterfall Model</vt:lpstr>
      <vt:lpstr>Introduction to Agile</vt:lpstr>
      <vt:lpstr>Core Values of Agile</vt:lpstr>
      <vt:lpstr>Core Values of Agile</vt:lpstr>
      <vt:lpstr>12 Principles of Agile</vt:lpstr>
      <vt:lpstr>12 Principles of Agile</vt:lpstr>
      <vt:lpstr>12 Principles of Agile</vt:lpstr>
      <vt:lpstr>12 Principles of Agile</vt:lpstr>
      <vt:lpstr>Introduction to Agile</vt:lpstr>
      <vt:lpstr>Agile Frameworks Overview</vt:lpstr>
      <vt:lpstr>Scrum Overview</vt:lpstr>
      <vt:lpstr>Scrum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Scrum Workflow Explained</vt:lpstr>
      <vt:lpstr>Summary</vt:lpstr>
      <vt:lpstr>Scrum Roles</vt:lpstr>
      <vt:lpstr>Product Owner (PO)</vt:lpstr>
      <vt:lpstr>Product Owner (PO)</vt:lpstr>
      <vt:lpstr>Scrum Master (SM)</vt:lpstr>
      <vt:lpstr>Development Team</vt:lpstr>
      <vt:lpstr>Scrum Events (Ceremonies)</vt:lpstr>
      <vt:lpstr>Scrum Events (Ceremonies)</vt:lpstr>
      <vt:lpstr>Sprint</vt:lpstr>
      <vt:lpstr>Sprint Planning</vt:lpstr>
      <vt:lpstr>Daily Scrum (Daily Stand-up)</vt:lpstr>
      <vt:lpstr>Sprint Review</vt:lpstr>
      <vt:lpstr>Sprint Retrospective</vt:lpstr>
      <vt:lpstr>The 3 Pillars of Scrum</vt:lpstr>
      <vt:lpstr>The 3 Pillars of Scrum</vt:lpstr>
      <vt:lpstr>The 3 Pillars of Scrum</vt:lpstr>
      <vt:lpstr>Scrum Artifacts</vt:lpstr>
      <vt:lpstr>Scrum Objectives</vt:lpstr>
      <vt:lpstr>Agile Metrics &amp; Measurements</vt:lpstr>
      <vt:lpstr>Agile Life Cycle</vt:lpstr>
      <vt:lpstr>Benefits of Agile/Scrum</vt:lpstr>
      <vt:lpstr>Challenges in Agile</vt:lpstr>
      <vt:lpstr>PowerPoint Presentation</vt:lpstr>
      <vt:lpstr>Kanban – Working Explained</vt:lpstr>
      <vt:lpstr>Kanban – Working Explained</vt:lpstr>
      <vt:lpstr>Kanban – Working Explained</vt:lpstr>
      <vt:lpstr>When to use Kanban?</vt:lpstr>
      <vt:lpstr>Kanban</vt:lpstr>
      <vt:lpstr>Core Principles of Kanban</vt:lpstr>
      <vt:lpstr>Core Practices of Kanban</vt:lpstr>
      <vt:lpstr>Core Practices of Kanban</vt:lpstr>
      <vt:lpstr>Core Practices of Kanban</vt:lpstr>
      <vt:lpstr>Kanban vs Scrum</vt:lpstr>
      <vt:lpstr>Kanban Metrics and Flow Measurements</vt:lpstr>
      <vt:lpstr>Advantages of Kanban</vt:lpstr>
      <vt:lpstr>Challenges of Kanban</vt:lpstr>
      <vt:lpstr>When to Use Kanban</vt:lpstr>
      <vt:lpstr>Extreme Programming (XP)</vt:lpstr>
      <vt:lpstr>Key Practices of XP</vt:lpstr>
      <vt:lpstr>Lean Software Development</vt:lpstr>
      <vt:lpstr>The Philosophy Behind Lean Agile</vt:lpstr>
      <vt:lpstr>7 principles of LEAN</vt:lpstr>
      <vt:lpstr>Lean Agile Process Flow</vt:lpstr>
      <vt:lpstr>Real-World Examples of Lean Agile</vt:lpstr>
      <vt:lpstr>LEAN Explained</vt:lpstr>
      <vt:lpstr>LEAN Explained</vt:lpstr>
      <vt:lpstr>LEAN Explained</vt:lpstr>
      <vt:lpstr>LEAN Explained</vt:lpstr>
      <vt:lpstr>Types of Waste In LEAN</vt:lpstr>
      <vt:lpstr>LEAN Summary</vt:lpstr>
      <vt:lpstr>SAFe (Scaled Agile Framework)</vt:lpstr>
      <vt:lpstr>Why SAFe?</vt:lpstr>
      <vt:lpstr>Key Events in SAFe</vt:lpstr>
      <vt:lpstr>Roles in SAFe</vt:lpstr>
      <vt:lpstr>SAFe Work Artifacts</vt:lpstr>
      <vt:lpstr>SAFe Explained</vt:lpstr>
      <vt:lpstr>SAFe Explained</vt:lpstr>
      <vt:lpstr>SAFe Explained</vt:lpstr>
      <vt:lpstr>SAFe Explained</vt:lpstr>
      <vt:lpstr>SAFe Explained</vt:lpstr>
      <vt:lpstr>SAFe Explained</vt:lpstr>
      <vt:lpstr>SAFe Explained</vt:lpstr>
      <vt:lpstr>SAFe Explained -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Aanvi</dc:creator>
  <cp:lastModifiedBy>Surendra Kc</cp:lastModifiedBy>
  <cp:revision>20</cp:revision>
  <dcterms:created xsi:type="dcterms:W3CDTF">2025-11-02T01:27:39Z</dcterms:created>
  <dcterms:modified xsi:type="dcterms:W3CDTF">2025-11-18T08:17:09Z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